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60" r:id="rId2"/>
    <p:sldId id="265" r:id="rId3"/>
    <p:sldId id="272" r:id="rId4"/>
    <p:sldId id="261" r:id="rId5"/>
    <p:sldId id="263" r:id="rId6"/>
    <p:sldId id="264" r:id="rId7"/>
    <p:sldId id="273" r:id="rId8"/>
    <p:sldId id="271" r:id="rId9"/>
    <p:sldId id="275" r:id="rId10"/>
    <p:sldId id="274" r:id="rId11"/>
    <p:sldId id="267" r:id="rId12"/>
    <p:sldId id="269" r:id="rId13"/>
    <p:sldId id="276" r:id="rId14"/>
    <p:sldId id="262" r:id="rId15"/>
    <p:sldId id="256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6822110-B00D-4CCF-8DF2-1C627B7504CB}" v="1903" dt="2026-10-14T21:06:17.27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8AFA33-C91A-4BAC-8FB7-B9049AF93BB0}" type="datetimeFigureOut">
              <a:t>10/14/2026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89D4BE-DF6E-4D7C-A31C-B28547A97B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653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With motivation slide, we probably don't need this slide – pretty similar</a:t>
            </a:r>
            <a:r>
              <a:rPr lang="en-US">
                <a:ea typeface="Calibri"/>
                <a:cs typeface="Calibri"/>
              </a:rPr>
              <a:t> to next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89D4BE-DF6E-4D7C-A31C-B28547A97B84}" type="slidenum"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2576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Replace Pet Proximity with Pet Location (since that's more what we care about </a:t>
            </a:r>
            <a:r>
              <a:rPr lang="en-US">
                <a:ea typeface="Calibri"/>
                <a:cs typeface="Calibri"/>
              </a:rPr>
              <a:t>even though demo is measuring proximity)</a:t>
            </a:r>
          </a:p>
          <a:p>
            <a:r>
              <a:rPr lang="en-US">
                <a:ea typeface="Calibri"/>
                <a:cs typeface="Calibri"/>
              </a:rPr>
              <a:t>Replace middle photo with some sort of sensor/Pi icon with a pet?</a:t>
            </a:r>
          </a:p>
          <a:p>
            <a:r>
              <a:rPr lang="en-US">
                <a:ea typeface="Calibri"/>
                <a:cs typeface="Calibri"/>
              </a:rPr>
              <a:t>Add icon for pet movement/step tracker</a:t>
            </a:r>
          </a:p>
          <a:p>
            <a:r>
              <a:rPr lang="en-US" dirty="0">
                <a:ea typeface="Calibri"/>
                <a:cs typeface="Calibri"/>
              </a:rPr>
              <a:t>Add note about how we intend to package this (application that we package to people with </a:t>
            </a:r>
            <a:r>
              <a:rPr lang="en-US" dirty="0" err="1">
                <a:ea typeface="Calibri"/>
                <a:cs typeface="Calibri"/>
              </a:rPr>
              <a:t>Pis</a:t>
            </a:r>
            <a:r>
              <a:rPr lang="en-US" dirty="0">
                <a:ea typeface="Calibri"/>
                <a:cs typeface="Calibri"/>
              </a:rPr>
              <a:t> or other edge computing devices with sensors)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89D4BE-DF6E-4D7C-A31C-B28547A97B84}" type="slidenum"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498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Mention that AI has sped up development greatly, which afforded us the chance to look at two different dashboard approaches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89D4BE-DF6E-4D7C-A31C-B28547A97B84}" type="slidenum"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0246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Maybe have AI clean up this slide a bit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89D4BE-DF6E-4D7C-A31C-B28547A97B84}" type="slidenum"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161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44DB5-06BB-0E02-0B90-19DADDA32A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AA7FD1-3192-D9DC-AB24-2D77D3B15E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AD5CB7-6A7A-322D-B9E2-82FDBEFA8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A4E44B-1655-65C8-7110-F3906BADB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C80FD-2786-6349-ABDA-452333CE0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529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F434F-ED52-AC5B-A2E9-558007C85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374740-5006-F496-2D3B-824F986FB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3FCABB-0ABD-2BC9-05DC-3DE2A73CA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3089A5-06A3-5B7C-5297-E04B9084F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E07A6A-45DD-DB03-18B5-CD1FA4C92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5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8DA29-AC18-B676-E43B-73FCC9120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BF56FD-8BE4-DCC1-9CAE-8A2C06908C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9B0684-4551-7A78-A923-C0927937AB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5E50BB-AAF8-81FF-93D5-DEE5D99B2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EA1CCC-AAA2-80C8-6631-47DF4E5CC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760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D4955-1158-3F1E-369F-64F94976B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EC42D-3D15-9F9E-FCB0-E76709A412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3A74EC-76AA-4B14-3289-7C8CD89F8C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8754B2-751C-CC2B-2F9E-A4BBE5F12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C4AC9F-DF02-D49D-E63F-3E0CE7617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B3BE65-5E48-E4EB-7EB0-D5350258C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5909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21C67-EF84-D365-93D9-F56FBA451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8F7B56-A07C-10CF-C5B5-654248AF99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6AEDF0-5C33-0659-A38B-AFECEB2C94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CE6E02-A880-E93E-0763-C5FB2D4C68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622C19-FE35-8240-6B8F-251525C941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8119672-2A0A-BD53-7563-F637B23B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8FB6DF4-F6E0-460E-ED20-CD2B32C28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7209B08-A02D-A4C4-E862-5448495D2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1488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0A393-1ED9-5FE4-C9BE-F14B9F072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4F692D-77A4-412C-704A-C15E99E6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B3F5B4-A8BA-2A10-0EF4-788916664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4F5D2B-6F35-6155-CD6E-CDED9BDCB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36961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13E03B-894D-319A-5D7B-64AC00BA6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CE52C2-0ED1-3D31-9DEF-1C0EBA5EA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3E7F4-60D2-A606-3225-7D5ED6EC9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298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D257C-9887-B524-CD94-0163ADD46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A0AA3-F4D9-7693-A992-53B8B8CABC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E489A6-F2AE-F287-5B2C-1F1E2544E0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F3FAD5-58F1-B598-2572-0DDE7D5F4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89088F-67C2-E51C-34C5-8FA9B359D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B9F173-D2D5-F331-C77C-A976CBEAF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167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36FFF-874D-074E-9ED6-EA32F9F74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26F173-AB8A-B13C-4104-BDD83AAF16C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1292B9-FDDC-72BB-43DA-2EDD0F1B6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1C4ACB-D0A9-F2AB-DF3E-5A250E4BA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9E38DF-7094-2E4F-FFD9-B4CAB72A1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E97528-4EC1-59B7-D279-90ED05186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9016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51B1B-9A4E-E413-4F92-E03DEBAE5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43DD57-5E6D-0D87-3BB3-8E2D2B20D5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98C4F6-5E8B-BE68-8119-E1DF1201A9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0980B-3946-42A9-D0EA-B5A690D88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F814A0-4655-AFAF-ED41-5FB82EFC0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945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700BBE-A1ED-D8D5-F723-0B288D316A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F5D50D-1EDF-DE7A-4AD0-354F23CF25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B631AF-7713-218F-2A50-48E542EAF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E07C3C-0E3B-B9CD-9C0B-258FC9A11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4609E6-2E47-0504-D0F6-2D0AA14C9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104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30680F-A7E3-3EB3-2062-846BD85EF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9E764C-AA33-93D2-D7DD-2EE068337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210AF9-3068-9C44-4D22-03E74993CD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17FE77-200D-49C5-A076-06A10B1B9D3E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9524AC-4070-1041-844C-E71F9B1A35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0EA169-B624-33FC-C49C-502C9E481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2142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10" Type="http://schemas.openxmlformats.org/officeDocument/2006/relationships/image" Target="../media/image10.png"/><Relationship Id="rId4" Type="http://schemas.openxmlformats.org/officeDocument/2006/relationships/image" Target="../media/image5.png"/><Relationship Id="rId9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2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jpe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57CD8-B029-B245-9F04-4F9D4B9D7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3E36BE-F632-9A97-1577-3E34929DEC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0467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9ED4E1-6D4D-EB46-5844-A8FF18F11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426D142-CEAD-84B3-C0B5-58E70729B9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3650" y="0"/>
            <a:ext cx="102933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4475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B2EB2F-AC99-49D4-245F-F8CFBB90C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02EB53C-6ADB-2634-91BB-D1419A00F6F1}"/>
              </a:ext>
            </a:extLst>
          </p:cNvPr>
          <p:cNvSpPr txBox="1"/>
          <p:nvPr/>
        </p:nvSpPr>
        <p:spPr>
          <a:xfrm>
            <a:off x="5303681" y="1105973"/>
            <a:ext cx="1573906" cy="4723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/>
              <a:t>Motivation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81B191-C919-4DDA-51C6-42D631CE203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5326" r="210" b="15326"/>
          <a:stretch>
            <a:fillRect/>
          </a:stretch>
        </p:blipFill>
        <p:spPr>
          <a:xfrm>
            <a:off x="2787069" y="4159073"/>
            <a:ext cx="6617872" cy="25110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580A1AC-9627-73EE-64CC-D5F28A608BA6}"/>
              </a:ext>
            </a:extLst>
          </p:cNvPr>
          <p:cNvSpPr txBox="1"/>
          <p:nvPr/>
        </p:nvSpPr>
        <p:spPr>
          <a:xfrm>
            <a:off x="2031782" y="1978696"/>
            <a:ext cx="9687146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/>
              <a:t>At CRM </a:t>
            </a:r>
            <a:r>
              <a:rPr lang="en-US" sz="2400"/>
              <a:t>Elevate, we</a:t>
            </a:r>
            <a:r>
              <a:rPr lang="en-US" sz="2400" dirty="0"/>
              <a:t> heard business leaders discuss the impact of the </a:t>
            </a:r>
            <a:r>
              <a:rPr lang="en-US" sz="2400"/>
              <a:t>unexpected growth of Progressive's Pet Insurance.</a:t>
            </a:r>
            <a:endParaRPr lang="en-US" sz="2400" dirty="0"/>
          </a:p>
          <a:p>
            <a:endParaRPr lang="en-US" sz="2400" dirty="0"/>
          </a:p>
          <a:p>
            <a:r>
              <a:rPr lang="en-US" sz="2400"/>
              <a:t>How can we capture more of this growing market?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617567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EC5FF0-199F-8691-1FD5-DCF116017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C93D93-E32C-50B9-4A12-861B49C20E98}"/>
              </a:ext>
            </a:extLst>
          </p:cNvPr>
          <p:cNvSpPr txBox="1"/>
          <p:nvPr/>
        </p:nvSpPr>
        <p:spPr>
          <a:xfrm>
            <a:off x="4133850" y="1181100"/>
            <a:ext cx="5448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When You’re Away, Who’s Watching?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0D32009-6CCA-13F2-47AC-2977BDE828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8724" y="4135749"/>
            <a:ext cx="663574" cy="66357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DC4417A-FD8F-8660-FD30-63886F3DA2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8575" y="4196059"/>
            <a:ext cx="663575" cy="66357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084B0EF-A7B4-4B40-AE60-258AD7B8717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5449" y="2154237"/>
            <a:ext cx="765175" cy="76517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51B3877-3B3D-E5B6-4003-59EF3886AD3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412" y="2127250"/>
            <a:ext cx="765175" cy="76517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72D7650-83BA-21EE-708F-A7FEF9B8C208}"/>
              </a:ext>
            </a:extLst>
          </p:cNvPr>
          <p:cNvSpPr txBox="1"/>
          <p:nvPr/>
        </p:nvSpPr>
        <p:spPr>
          <a:xfrm>
            <a:off x="2012949" y="2892425"/>
            <a:ext cx="17780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Is the room too hot or cold?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56E648-DB93-48F5-669E-0828023956A3}"/>
              </a:ext>
            </a:extLst>
          </p:cNvPr>
          <p:cNvSpPr txBox="1"/>
          <p:nvPr/>
        </p:nvSpPr>
        <p:spPr>
          <a:xfrm>
            <a:off x="7821611" y="2919412"/>
            <a:ext cx="1212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Where is my pet?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7C40B9-4D19-7014-86EE-9ABCAF893B4A}"/>
              </a:ext>
            </a:extLst>
          </p:cNvPr>
          <p:cNvSpPr txBox="1"/>
          <p:nvPr/>
        </p:nvSpPr>
        <p:spPr>
          <a:xfrm>
            <a:off x="2200636" y="4843574"/>
            <a:ext cx="126682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Can I check in?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47EF049-8213-A327-279B-FFAD6E0F7F52}"/>
              </a:ext>
            </a:extLst>
          </p:cNvPr>
          <p:cNvSpPr txBox="1"/>
          <p:nvPr/>
        </p:nvSpPr>
        <p:spPr>
          <a:xfrm>
            <a:off x="8728866" y="4859634"/>
            <a:ext cx="104299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Is my pet safe?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4F97E2E-B42F-8702-07E3-9BB72FECFC0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3805" y="5026365"/>
            <a:ext cx="809454" cy="80945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96016A8-F997-A994-2D91-77C0971BFCA3}"/>
              </a:ext>
            </a:extLst>
          </p:cNvPr>
          <p:cNvSpPr txBox="1"/>
          <p:nvPr/>
        </p:nvSpPr>
        <p:spPr>
          <a:xfrm>
            <a:off x="5347182" y="5708861"/>
            <a:ext cx="128270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Has my pet eaten?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93E46F7-7F00-125D-22F4-6C850FF61F3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0075" y="3019383"/>
            <a:ext cx="1778001" cy="133350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50E8FE1-E694-B1FD-6BCE-D09DA943E75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1239" y="4091498"/>
            <a:ext cx="707825" cy="707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52836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AAE6BE-0203-017C-5F7A-5EF59E299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C98AC9-B908-9FFD-9A97-E6403E0D92AF}"/>
              </a:ext>
            </a:extLst>
          </p:cNvPr>
          <p:cNvSpPr txBox="1"/>
          <p:nvPr/>
        </p:nvSpPr>
        <p:spPr>
          <a:xfrm>
            <a:off x="4696138" y="1091818"/>
            <a:ext cx="30435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Meet Pet Guardian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8CCAB5-AED9-18F7-EDD3-0C248881126B}"/>
              </a:ext>
            </a:extLst>
          </p:cNvPr>
          <p:cNvSpPr txBox="1"/>
          <p:nvPr/>
        </p:nvSpPr>
        <p:spPr>
          <a:xfrm>
            <a:off x="3756606" y="1571259"/>
            <a:ext cx="57640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 Raspberry Pi powered pet safety and monitoring system for when owners are away.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2AACBB-BD77-1B64-A05D-7E623F2005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7227" y="4341811"/>
            <a:ext cx="663574" cy="66357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FD0FD07-8947-04FA-EC95-8FC78737F280}"/>
              </a:ext>
            </a:extLst>
          </p:cNvPr>
          <p:cNvSpPr txBox="1"/>
          <p:nvPr/>
        </p:nvSpPr>
        <p:spPr>
          <a:xfrm>
            <a:off x="1686045" y="4140426"/>
            <a:ext cx="126682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/>
              <a:t>Live check-in!!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FDD63A5-3443-99A5-74A5-BDFD2435654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9742" y="4297560"/>
            <a:ext cx="707825" cy="70782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B796055-05F9-EC5D-56E5-67002AFFCC1D}"/>
              </a:ext>
            </a:extLst>
          </p:cNvPr>
          <p:cNvSpPr txBox="1"/>
          <p:nvPr/>
        </p:nvSpPr>
        <p:spPr>
          <a:xfrm>
            <a:off x="1372724" y="5005385"/>
            <a:ext cx="212910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See and hear your pet in real-time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8FBF9E4-890D-5AE4-2175-62713E4DD83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5534" y="2218631"/>
            <a:ext cx="765175" cy="76517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72F1AC9-667E-7BDA-50A2-2B984BBF0FE0}"/>
              </a:ext>
            </a:extLst>
          </p:cNvPr>
          <p:cNvSpPr txBox="1"/>
          <p:nvPr/>
        </p:nvSpPr>
        <p:spPr>
          <a:xfrm>
            <a:off x="9189365" y="2040157"/>
            <a:ext cx="1100377" cy="25391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050" b="1" dirty="0"/>
              <a:t>Pet Proximity</a:t>
            </a:r>
            <a:endParaRPr lang="en-US" sz="1050" b="1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1A42EE-278D-4898-3F53-849E246B65D0}"/>
              </a:ext>
            </a:extLst>
          </p:cNvPr>
          <p:cNvSpPr txBox="1"/>
          <p:nvPr/>
        </p:nvSpPr>
        <p:spPr>
          <a:xfrm>
            <a:off x="8905884" y="2983806"/>
            <a:ext cx="26593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Estimate how close your pet is to the HUB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504D9EE-44ED-2D16-E56A-6F01BF6EB2B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9459" y="2274485"/>
            <a:ext cx="765175" cy="76517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1E0758B-848F-CAFF-C3C4-71063AA76F37}"/>
              </a:ext>
            </a:extLst>
          </p:cNvPr>
          <p:cNvSpPr txBox="1"/>
          <p:nvPr/>
        </p:nvSpPr>
        <p:spPr>
          <a:xfrm>
            <a:off x="1902258" y="2091673"/>
            <a:ext cx="170382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/>
              <a:t>Environment Monitoring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BF38660-005D-EF5B-B7CB-F4E819317623}"/>
              </a:ext>
            </a:extLst>
          </p:cNvPr>
          <p:cNvSpPr txBox="1"/>
          <p:nvPr/>
        </p:nvSpPr>
        <p:spPr>
          <a:xfrm>
            <a:off x="1444162" y="3039660"/>
            <a:ext cx="226178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Monitor Temperature and Humidity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665C5F91-6AB5-9DEE-311D-67F84F6822D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2537" y="3989615"/>
            <a:ext cx="809454" cy="809454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701D29A0-6E3C-FBA4-278A-9FA34570E315}"/>
              </a:ext>
            </a:extLst>
          </p:cNvPr>
          <p:cNvSpPr txBox="1"/>
          <p:nvPr/>
        </p:nvSpPr>
        <p:spPr>
          <a:xfrm>
            <a:off x="8391667" y="3862657"/>
            <a:ext cx="150574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/>
              <a:t>Feeding Awareness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30FFA67-7DCC-A2E1-FA90-C90AB2AEDD27}"/>
              </a:ext>
            </a:extLst>
          </p:cNvPr>
          <p:cNvSpPr txBox="1"/>
          <p:nvPr/>
        </p:nvSpPr>
        <p:spPr>
          <a:xfrm>
            <a:off x="7650447" y="4673598"/>
            <a:ext cx="279363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Track whether food was dispensed or eaten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F78113CA-FC6F-3407-C733-7EE6AD8DC98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0444" y="5259301"/>
            <a:ext cx="663575" cy="66357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EFE64B7-6B12-0B63-8047-910AE790C56F}"/>
              </a:ext>
            </a:extLst>
          </p:cNvPr>
          <p:cNvSpPr txBox="1"/>
          <p:nvPr/>
        </p:nvSpPr>
        <p:spPr>
          <a:xfrm>
            <a:off x="5917503" y="5464130"/>
            <a:ext cx="24741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/>
              <a:t>Peace of Mind</a:t>
            </a:r>
          </a:p>
          <a:p>
            <a:r>
              <a:rPr lang="en-US" sz="1050" dirty="0"/>
              <a:t>Better awareness when pets are home alone 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5E256663-FD7A-5E3F-1404-D360971F3CD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8396" y="2933883"/>
            <a:ext cx="1778001" cy="1333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6648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F2526E-1E1A-541C-C173-DAB0B9CC3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1EBF3-B685-27FE-3A1B-2985877E71D6}"/>
              </a:ext>
            </a:extLst>
          </p:cNvPr>
          <p:cNvSpPr txBox="1"/>
          <p:nvPr/>
        </p:nvSpPr>
        <p:spPr>
          <a:xfrm>
            <a:off x="4771623" y="1165538"/>
            <a:ext cx="30587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Building Pet Guardian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A0D837-63ED-1610-50F3-EFFED0627736}"/>
              </a:ext>
            </a:extLst>
          </p:cNvPr>
          <p:cNvSpPr txBox="1"/>
          <p:nvPr/>
        </p:nvSpPr>
        <p:spPr>
          <a:xfrm>
            <a:off x="4462529" y="1562809"/>
            <a:ext cx="377058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The hardware powering pet safety, monitoring, and awareness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D43D76-6507-7713-0608-CD1BD5C15D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8781" y="2914030"/>
            <a:ext cx="1901515" cy="12028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58E907-B36F-6BF0-3BBE-8F56648EA4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0276" y="4846953"/>
            <a:ext cx="798694" cy="5675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4703796-312C-1184-6A3B-2906568E0CD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337" y="5204619"/>
            <a:ext cx="693163" cy="67351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1D3E81-3A00-08E6-DFD5-EDB1DB1F5E8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7513" y="4765635"/>
            <a:ext cx="750926" cy="67351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D736CA-49AB-5C7A-35D3-D8A82C0BA05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1167" y="1702334"/>
            <a:ext cx="775044" cy="67977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FE8A5FA-C311-F31E-EDA4-4696DE05681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6013" y="2130481"/>
            <a:ext cx="654309" cy="107654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0D22BCE-BD71-79D5-0386-374C5F6E47D4}"/>
              </a:ext>
            </a:extLst>
          </p:cNvPr>
          <p:cNvSpPr txBox="1"/>
          <p:nvPr/>
        </p:nvSpPr>
        <p:spPr>
          <a:xfrm>
            <a:off x="2791640" y="1758447"/>
            <a:ext cx="1021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/>
              <a:t>Camera Module</a:t>
            </a:r>
          </a:p>
          <a:p>
            <a:r>
              <a:rPr lang="en-US" sz="900" dirty="0"/>
              <a:t>Live Video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EE7029-BE4F-E6C9-2BE7-FC031D51B8D2}"/>
              </a:ext>
            </a:extLst>
          </p:cNvPr>
          <p:cNvSpPr txBox="1"/>
          <p:nvPr/>
        </p:nvSpPr>
        <p:spPr>
          <a:xfrm>
            <a:off x="8656032" y="1313188"/>
            <a:ext cx="1029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/>
              <a:t>Microphone</a:t>
            </a:r>
          </a:p>
          <a:p>
            <a:r>
              <a:rPr lang="en-US" sz="900" dirty="0"/>
              <a:t>Audio Monitoring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FD3FAC-E1A5-4B9F-3935-650462B7A71C}"/>
              </a:ext>
            </a:extLst>
          </p:cNvPr>
          <p:cNvSpPr txBox="1"/>
          <p:nvPr/>
        </p:nvSpPr>
        <p:spPr>
          <a:xfrm>
            <a:off x="5925532" y="4116922"/>
            <a:ext cx="79060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Central Hub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D587B9-B253-4977-FD7D-736BFF3227B9}"/>
              </a:ext>
            </a:extLst>
          </p:cNvPr>
          <p:cNvSpPr txBox="1"/>
          <p:nvPr/>
        </p:nvSpPr>
        <p:spPr>
          <a:xfrm>
            <a:off x="3518142" y="5439146"/>
            <a:ext cx="10166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/>
              <a:t>BME 280 Sensor</a:t>
            </a:r>
          </a:p>
          <a:p>
            <a:r>
              <a:rPr lang="en-US" sz="900" dirty="0"/>
              <a:t>Temp/Humidity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310CA39-B8F9-C3BC-6195-C7EF706B2D67}"/>
              </a:ext>
            </a:extLst>
          </p:cNvPr>
          <p:cNvSpPr txBox="1"/>
          <p:nvPr/>
        </p:nvSpPr>
        <p:spPr>
          <a:xfrm>
            <a:off x="9028289" y="5464229"/>
            <a:ext cx="8370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/>
              <a:t>BLE Pet Tag</a:t>
            </a:r>
          </a:p>
          <a:p>
            <a:r>
              <a:rPr lang="en-US" sz="900" dirty="0"/>
              <a:t>Pet Proximity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2D9C44D-C1EA-E890-32FB-AC23F6E18DC7}"/>
              </a:ext>
            </a:extLst>
          </p:cNvPr>
          <p:cNvSpPr txBox="1"/>
          <p:nvPr/>
        </p:nvSpPr>
        <p:spPr>
          <a:xfrm>
            <a:off x="6439782" y="5870588"/>
            <a:ext cx="1144865" cy="369332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900" b="1" dirty="0"/>
              <a:t>Load Cell</a:t>
            </a:r>
          </a:p>
          <a:p>
            <a:r>
              <a:rPr lang="en-US" sz="900" dirty="0"/>
              <a:t>Feeding awareness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EA70837-7FB7-1EDB-3D29-2CB70CFCEF5B}"/>
              </a:ext>
            </a:extLst>
          </p:cNvPr>
          <p:cNvCxnSpPr>
            <a:cxnSpLocks/>
          </p:cNvCxnSpPr>
          <p:nvPr/>
        </p:nvCxnSpPr>
        <p:spPr>
          <a:xfrm>
            <a:off x="3730322" y="2668755"/>
            <a:ext cx="1688459" cy="245275"/>
          </a:xfrm>
          <a:prstGeom prst="line">
            <a:avLst/>
          </a:prstGeom>
          <a:ln w="31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E701CAB-8DDC-761B-3EB3-A22932C856AF}"/>
              </a:ext>
            </a:extLst>
          </p:cNvPr>
          <p:cNvCxnSpPr>
            <a:cxnSpLocks/>
          </p:cNvCxnSpPr>
          <p:nvPr/>
        </p:nvCxnSpPr>
        <p:spPr>
          <a:xfrm flipH="1">
            <a:off x="7320296" y="2042220"/>
            <a:ext cx="1650871" cy="871810"/>
          </a:xfrm>
          <a:prstGeom prst="line">
            <a:avLst/>
          </a:prstGeom>
          <a:ln w="31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FA63B1C-4524-D897-0C38-39F848558450}"/>
              </a:ext>
            </a:extLst>
          </p:cNvPr>
          <p:cNvCxnSpPr>
            <a:cxnSpLocks/>
          </p:cNvCxnSpPr>
          <p:nvPr/>
        </p:nvCxnSpPr>
        <p:spPr>
          <a:xfrm flipH="1" flipV="1">
            <a:off x="7320296" y="3515476"/>
            <a:ext cx="1827217" cy="1586915"/>
          </a:xfrm>
          <a:prstGeom prst="line">
            <a:avLst/>
          </a:prstGeom>
          <a:ln w="317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E9B04F7-C20D-E60E-A7F4-A3CE309D2DD3}"/>
              </a:ext>
            </a:extLst>
          </p:cNvPr>
          <p:cNvCxnSpPr>
            <a:cxnSpLocks/>
          </p:cNvCxnSpPr>
          <p:nvPr/>
        </p:nvCxnSpPr>
        <p:spPr>
          <a:xfrm flipV="1">
            <a:off x="6855644" y="4143198"/>
            <a:ext cx="24472" cy="1008871"/>
          </a:xfrm>
          <a:prstGeom prst="line">
            <a:avLst/>
          </a:prstGeom>
          <a:ln w="317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AC690FEC-F5EB-A0B8-CE78-E5D961BD8A6B}"/>
              </a:ext>
            </a:extLst>
          </p:cNvPr>
          <p:cNvCxnSpPr>
            <a:cxnSpLocks/>
          </p:cNvCxnSpPr>
          <p:nvPr/>
        </p:nvCxnSpPr>
        <p:spPr>
          <a:xfrm flipV="1">
            <a:off x="4009623" y="3515476"/>
            <a:ext cx="1409158" cy="1331477"/>
          </a:xfrm>
          <a:prstGeom prst="line">
            <a:avLst/>
          </a:prstGeom>
          <a:ln w="3175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84145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BA3A7C-3868-8C68-6038-D2ACC0BE6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02C360-CF3E-F7B3-2431-E5399BFA9A4C}"/>
              </a:ext>
            </a:extLst>
          </p:cNvPr>
          <p:cNvSpPr txBox="1"/>
          <p:nvPr/>
        </p:nvSpPr>
        <p:spPr>
          <a:xfrm>
            <a:off x="4771623" y="1165538"/>
            <a:ext cx="3058732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/>
              <a:t>Dashboard</a:t>
            </a: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DC9CC9-F6A8-C5B6-FEB7-6A9C7F7DAB41}"/>
              </a:ext>
            </a:extLst>
          </p:cNvPr>
          <p:cNvSpPr txBox="1"/>
          <p:nvPr/>
        </p:nvSpPr>
        <p:spPr>
          <a:xfrm>
            <a:off x="2050621" y="1814010"/>
            <a:ext cx="9109491" cy="40934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/>
              <a:t>Two Approaches</a:t>
            </a:r>
          </a:p>
          <a:p>
            <a:endParaRPr lang="en-US" sz="2400" dirty="0"/>
          </a:p>
          <a:p>
            <a:pPr marL="457200" indent="-457200">
              <a:buAutoNum type="arabicPeriod"/>
            </a:pPr>
            <a:r>
              <a:rPr lang="en-US" sz="2400"/>
              <a:t>Create customized dashboard "from scratch"</a:t>
            </a:r>
          </a:p>
          <a:p>
            <a:pPr marL="914400" lvl="1" indent="-457200">
              <a:buFont typeface="Courier New"/>
              <a:buChar char="o"/>
            </a:pPr>
            <a:r>
              <a:rPr lang="en-US" sz="2400"/>
              <a:t>Start from blank code repository, use CoPilot to generate PGR-themed dashboard based on input specifications</a:t>
            </a:r>
          </a:p>
          <a:p>
            <a:pPr marL="457200" indent="-457200">
              <a:buAutoNum type="arabicPeriod"/>
            </a:pPr>
            <a:r>
              <a:rPr lang="en-US" sz="2400"/>
              <a:t>Use Node-RED – low-code solution with native support for Arduino/Raspberry Pi inputs</a:t>
            </a:r>
          </a:p>
          <a:p>
            <a:pPr marL="914400" lvl="1" indent="-457200">
              <a:buFont typeface="Courier New"/>
              <a:buChar char="o"/>
            </a:pPr>
            <a:r>
              <a:rPr lang="en-US" sz="2400"/>
              <a:t>Leverage pre-existing dashboard framework and use Node-RED documentation alongside AI to implement each sensor reading and visualization</a:t>
            </a:r>
          </a:p>
          <a:p>
            <a:pPr marL="914400" lvl="1" indent="-457200">
              <a:buFont typeface="Courier New"/>
              <a:buChar char="o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618301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A2A406-535E-159E-85E4-03CC823E4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7AD29FA-65CE-716D-7645-E6A6579D9F88}"/>
              </a:ext>
            </a:extLst>
          </p:cNvPr>
          <p:cNvSpPr txBox="1"/>
          <p:nvPr/>
        </p:nvSpPr>
        <p:spPr>
          <a:xfrm>
            <a:off x="3313544" y="956648"/>
            <a:ext cx="5559407" cy="52322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2800"/>
              <a:t>Dashboard Concept 1 – Tech Stack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3125FE-4AB4-D400-F336-CD09D0E11411}"/>
              </a:ext>
            </a:extLst>
          </p:cNvPr>
          <p:cNvSpPr txBox="1"/>
          <p:nvPr/>
        </p:nvSpPr>
        <p:spPr>
          <a:xfrm>
            <a:off x="3701088" y="1755031"/>
            <a:ext cx="555417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Flask backend to serve the dashboard</a:t>
            </a:r>
          </a:p>
          <a:p>
            <a:pPr marL="285750" indent="-285750">
              <a:buFont typeface="Arial"/>
              <a:buChar char="•"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0A502F5-0595-E603-8734-6100A65711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1256" y="1589223"/>
            <a:ext cx="1416316" cy="7034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146AAA0-303E-A4FF-59C6-53E07155C0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4424" y="2401189"/>
            <a:ext cx="1158011" cy="86602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B551025-1923-B4E2-3807-DF48EDA60C6C}"/>
              </a:ext>
            </a:extLst>
          </p:cNvPr>
          <p:cNvSpPr txBox="1"/>
          <p:nvPr/>
        </p:nvSpPr>
        <p:spPr>
          <a:xfrm>
            <a:off x="3698993" y="2617909"/>
            <a:ext cx="555417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OpenCV captures and prepares live camera feed</a:t>
            </a:r>
            <a:endParaRPr lang="en-US" dirty="0"/>
          </a:p>
          <a:p>
            <a:pPr marL="285750" indent="-285750">
              <a:buFont typeface="Arial"/>
              <a:buChar char="•"/>
            </a:pP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E049190-9E09-7F08-8914-0D36D68598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47385" y="3586035"/>
            <a:ext cx="1034879" cy="114814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574AD3D-A739-8C8E-082C-C86379EEA4DB}"/>
              </a:ext>
            </a:extLst>
          </p:cNvPr>
          <p:cNvSpPr txBox="1"/>
          <p:nvPr/>
        </p:nvSpPr>
        <p:spPr>
          <a:xfrm>
            <a:off x="3698993" y="3699125"/>
            <a:ext cx="555417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Read BME280 environmental data through I2C (inter-integrated circuit) bus with </a:t>
            </a:r>
            <a:r>
              <a:rPr lang="en-US" dirty="0" err="1"/>
              <a:t>RaspPi</a:t>
            </a:r>
            <a:r>
              <a:rPr lang="en-US" dirty="0"/>
              <a:t> OS packages bme280 and smbus2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4C5506E-225C-015D-3227-E003A564AC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49162" y="4738816"/>
            <a:ext cx="1554893" cy="87115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5833CAD-4ED9-44A1-0F1B-6EA20930A26B}"/>
              </a:ext>
            </a:extLst>
          </p:cNvPr>
          <p:cNvSpPr txBox="1"/>
          <p:nvPr/>
        </p:nvSpPr>
        <p:spPr>
          <a:xfrm>
            <a:off x="3698993" y="4986287"/>
            <a:ext cx="55541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BLE </a:t>
            </a:r>
            <a:r>
              <a:rPr lang="en-US"/>
              <a:t>Scanning with Bleak python library 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1446E34-0222-0733-D12D-E5A33863803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98356" y="5614086"/>
            <a:ext cx="922639" cy="91234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464CA6A1-1E8F-B528-5AF4-4CF61C943114}"/>
              </a:ext>
            </a:extLst>
          </p:cNvPr>
          <p:cNvSpPr txBox="1"/>
          <p:nvPr/>
        </p:nvSpPr>
        <p:spPr>
          <a:xfrm>
            <a:off x="3698993" y="5882152"/>
            <a:ext cx="55541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YAMNet</a:t>
            </a:r>
            <a:r>
              <a:rPr lang="en-US" dirty="0"/>
              <a:t> TensorFlow Lite model for audio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12826218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F67124-6FE3-831F-6E86-F5677B0345C5}"/>
              </a:ext>
            </a:extLst>
          </p:cNvPr>
          <p:cNvSpPr txBox="1"/>
          <p:nvPr/>
        </p:nvSpPr>
        <p:spPr>
          <a:xfrm>
            <a:off x="5170247" y="2602462"/>
            <a:ext cx="185466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/>
              <a:t>Demo 1</a:t>
            </a:r>
          </a:p>
        </p:txBody>
      </p:sp>
    </p:spTree>
    <p:extLst>
      <p:ext uri="{BB962C8B-B14F-4D97-AF65-F5344CB8AC3E}">
        <p14:creationId xmlns:p14="http://schemas.microsoft.com/office/powerpoint/2010/main" val="3691463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4C166B-6EF5-99C7-6F5B-5CE15ED40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D08EBC-7286-46C1-CDE5-A3598765D077}"/>
              </a:ext>
            </a:extLst>
          </p:cNvPr>
          <p:cNvSpPr txBox="1"/>
          <p:nvPr/>
        </p:nvSpPr>
        <p:spPr>
          <a:xfrm>
            <a:off x="4108450" y="2870200"/>
            <a:ext cx="4750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How it works, add dashboard, alerts, </a:t>
            </a:r>
            <a:r>
              <a:rPr lang="en-US" dirty="0" err="1"/>
              <a:t>etc</a:t>
            </a:r>
            <a:r>
              <a:rPr lang="en-US" dirty="0"/>
              <a:t>?????</a:t>
            </a:r>
          </a:p>
        </p:txBody>
      </p:sp>
    </p:spTree>
    <p:extLst>
      <p:ext uri="{BB962C8B-B14F-4D97-AF65-F5344CB8AC3E}">
        <p14:creationId xmlns:p14="http://schemas.microsoft.com/office/powerpoint/2010/main" val="1359552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7ECCDD-76E5-9277-E530-B1E41C265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B62A71-3A26-894D-2917-F2D8D484EBF3}"/>
              </a:ext>
            </a:extLst>
          </p:cNvPr>
          <p:cNvSpPr txBox="1"/>
          <p:nvPr/>
        </p:nvSpPr>
        <p:spPr>
          <a:xfrm>
            <a:off x="5175250" y="3092450"/>
            <a:ext cx="2811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Embed video demo here??</a:t>
            </a:r>
          </a:p>
        </p:txBody>
      </p:sp>
    </p:spTree>
    <p:extLst>
      <p:ext uri="{BB962C8B-B14F-4D97-AF65-F5344CB8AC3E}">
        <p14:creationId xmlns:p14="http://schemas.microsoft.com/office/powerpoint/2010/main" val="28433515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BC758D-94EC-EE9A-4DB0-C9236ACFC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689B152-9AAC-9C61-2C01-1F86B5D258AD}"/>
              </a:ext>
            </a:extLst>
          </p:cNvPr>
          <p:cNvSpPr txBox="1"/>
          <p:nvPr/>
        </p:nvSpPr>
        <p:spPr>
          <a:xfrm>
            <a:off x="4403992" y="1193131"/>
            <a:ext cx="3383106" cy="52322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2800"/>
              <a:t>Learning/Challenges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5911299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F3681B-BDA9-9D0B-27B6-71AA95D20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3EE005-BD7F-BABA-0478-A275BABF2969}"/>
              </a:ext>
            </a:extLst>
          </p:cNvPr>
          <p:cNvSpPr txBox="1"/>
          <p:nvPr/>
        </p:nvSpPr>
        <p:spPr>
          <a:xfrm>
            <a:off x="5816600" y="2971800"/>
            <a:ext cx="2722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Future enhancements???</a:t>
            </a:r>
          </a:p>
        </p:txBody>
      </p:sp>
    </p:spTree>
    <p:extLst>
      <p:ext uri="{BB962C8B-B14F-4D97-AF65-F5344CB8AC3E}">
        <p14:creationId xmlns:p14="http://schemas.microsoft.com/office/powerpoint/2010/main" val="20706758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D0C6D-4C80-E42D-90DF-33EAB6D76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14276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8ADF2-78C9-7142-6B37-B14C14F5D4A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BCB09D-DF14-3717-9A28-3BE9BEB6056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9992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</TotalTime>
  <Words>161</Words>
  <Application>Microsoft Office PowerPoint</Application>
  <PresentationFormat>Widescreen</PresentationFormat>
  <Paragraphs>35</Paragraphs>
  <Slides>15</Slides>
  <Notes>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Lall</dc:creator>
  <cp:lastModifiedBy>Andrew Lall</cp:lastModifiedBy>
  <cp:revision>290</cp:revision>
  <dcterms:created xsi:type="dcterms:W3CDTF">2026-10-12T13:22:38Z</dcterms:created>
  <dcterms:modified xsi:type="dcterms:W3CDTF">2026-10-14T21:10:29Z</dcterms:modified>
</cp:coreProperties>
</file>