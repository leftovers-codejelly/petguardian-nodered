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65" r:id="rId3"/>
    <p:sldId id="272" r:id="rId4"/>
    <p:sldId id="261" r:id="rId5"/>
    <p:sldId id="263" r:id="rId6"/>
    <p:sldId id="264" r:id="rId7"/>
    <p:sldId id="273" r:id="rId8"/>
    <p:sldId id="271" r:id="rId9"/>
    <p:sldId id="275" r:id="rId10"/>
    <p:sldId id="274" r:id="rId11"/>
    <p:sldId id="267" r:id="rId12"/>
    <p:sldId id="269" r:id="rId13"/>
    <p:sldId id="268" r:id="rId14"/>
    <p:sldId id="262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22110-B00D-4CCF-8DF2-1C627B7504CB}" v="1880" dt="2026-10-14T20:55:39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AFA33-C91A-4BAC-8FB7-B9049AF93BB0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9D4BE-DF6E-4D7C-A31C-B28547A97B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5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With motivation slide, we probably don't need this slide – pretty similar</a:t>
            </a:r>
            <a:r>
              <a:rPr lang="en-US">
                <a:ea typeface="Calibri"/>
                <a:cs typeface="Calibri"/>
              </a:rPr>
              <a:t> to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D4BE-DF6E-4D7C-A31C-B28547A97B8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5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Replace Pet Proximity with Pet Location (since that's more what we care about </a:t>
            </a:r>
            <a:r>
              <a:rPr lang="en-US">
                <a:ea typeface="Calibri"/>
                <a:cs typeface="Calibri"/>
              </a:rPr>
              <a:t>even though demo is measuring proximity)</a:t>
            </a:r>
          </a:p>
          <a:p>
            <a:r>
              <a:rPr lang="en-US">
                <a:ea typeface="Calibri"/>
                <a:cs typeface="Calibri"/>
              </a:rPr>
              <a:t>Replace middle photo with some sort of sensor/Pi icon with a pet?</a:t>
            </a:r>
          </a:p>
          <a:p>
            <a:r>
              <a:rPr lang="en-US">
                <a:ea typeface="Calibri"/>
                <a:cs typeface="Calibri"/>
              </a:rPr>
              <a:t>Add icon for pet movement/step tracker</a:t>
            </a:r>
          </a:p>
          <a:p>
            <a:r>
              <a:rPr lang="en-US" dirty="0">
                <a:ea typeface="Calibri"/>
                <a:cs typeface="Calibri"/>
              </a:rPr>
              <a:t>Add note about how we intend to package this (application that we package to people with </a:t>
            </a:r>
            <a:r>
              <a:rPr lang="en-US" dirty="0" err="1">
                <a:ea typeface="Calibri"/>
                <a:cs typeface="Calibri"/>
              </a:rPr>
              <a:t>Pis</a:t>
            </a:r>
            <a:r>
              <a:rPr lang="en-US" dirty="0">
                <a:ea typeface="Calibri"/>
                <a:cs typeface="Calibri"/>
              </a:rPr>
              <a:t> or other edge computing devices with sensors)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D4BE-DF6E-4D7C-A31C-B28547A97B8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Mention that AI has sped up development greatly, which afforded us the chance to look at two different dashboard approaches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D4BE-DF6E-4D7C-A31C-B28547A97B84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2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Maybe have AI clean up this slide a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D4BE-DF6E-4D7C-A31C-B28547A97B84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6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4DB5-06BB-0E02-0B90-19DADDA32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A7FD1-3192-D9DC-AB24-2D77D3B15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D5CB7-6A7A-322D-B9E2-82FDBEF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E44B-1655-65C8-7110-F3906BAD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C80FD-2786-6349-ABDA-452333CE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2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434F-ED52-AC5B-A2E9-558007C8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4740-5006-F496-2D3B-824F986F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CABB-0ABD-2BC9-05DC-3DE2A73C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089A5-06A3-5B7C-5297-E04B9084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7A6A-45DD-DB03-18B5-CD1FA4C9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DA29-AC18-B676-E43B-73FCC912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F56FD-8BE4-DCC1-9CAE-8A2C0690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0684-4551-7A78-A923-C0927937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50BB-AAF8-81FF-93D5-DEE5D99B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1CCC-AAA2-80C8-6631-47DF4E5C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4955-1158-3F1E-369F-64F94976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C42D-3D15-9F9E-FCB0-E76709A4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A74EC-76AA-4B14-3289-7C8CD89F8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754B2-751C-CC2B-2F9E-A4BBE5F1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4AC9F-DF02-D49D-E63F-3E0CE761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3BE65-5E48-E4EB-7EB0-D5350258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1C67-EF84-D365-93D9-F56FBA45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7B56-A07C-10CF-C5B5-654248AF9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AEDF0-5C33-0659-A38B-AFECEB2C9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E6E02-A880-E93E-0763-C5FB2D4C6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22C19-FE35-8240-6B8F-251525C94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19672-2A0A-BD53-7563-F637B23B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B6DF4-F6E0-460E-ED20-CD2B32C2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09B08-A02D-A4C4-E862-5448495D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4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A393-1ED9-5FE4-C9BE-F14B9F07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F692D-77A4-412C-704A-C15E99E6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3F5B4-A8BA-2A10-0EF4-78891666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F5D2B-6F35-6155-CD6E-CDED9BDC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96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3E03B-894D-319A-5D7B-64AC00BA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CE52C2-0ED1-3D31-9DEF-1C0EBA5E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3E7F4-60D2-A606-3225-7D5ED6EC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257C-9887-B524-CD94-0163ADD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0AA3-F4D9-7693-A992-53B8B8CAB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489A6-F2AE-F287-5B2C-1F1E2544E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FAD5-58F1-B598-2572-0DDE7D5F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9088F-67C2-E51C-34C5-8FA9B359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F173-D2D5-F331-C77C-A976CBEA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6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6FFF-874D-074E-9ED6-EA32F9F7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6F173-AB8A-B13C-4104-BDD83AAF16C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292B9-FDDC-72BB-43DA-2EDD0F1B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C4ACB-D0A9-F2AB-DF3E-5A250E4B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E38DF-7094-2E4F-FFD9-B4CAB72A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97528-4EC1-59B7-D279-90ED0518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0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1B1B-9A4E-E413-4F92-E03DEBAE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3DD57-5E6D-0D87-3BB3-8E2D2B20D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C4F6-5E8B-BE68-8119-E1DF1201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980B-3946-42A9-D0EA-B5A690D8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814A0-4655-AFAF-ED41-5FB82EFC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00BBE-A1ED-D8D5-F723-0B288D316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5D50D-1EDF-DE7A-4AD0-354F23CF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31AF-7713-218F-2A50-48E542EA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07C3C-0E3B-B9CD-9C0B-258FC9A1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09E6-2E47-0504-D0F6-2D0AA14C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0680F-A7E3-3EB3-2062-846BD85E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E764C-AA33-93D2-D7DD-2EE068337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0AF9-3068-9C44-4D22-03E74993C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7FE77-200D-49C5-A076-06A10B1B9D3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24AC-4070-1041-844C-E71F9B1A3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A169-B624-33FC-C49C-502C9E481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7CD8-B029-B245-9F04-4F9D4B9D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E36BE-F632-9A97-1577-3E34929DE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4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ED4E1-6D4D-EB46-5844-A8FF18F1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6D142-CEAD-84B3-C0B5-58E70729B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50" y="0"/>
            <a:ext cx="10293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7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2EB2F-AC99-49D4-245F-F8CFBB90C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2EB53C-6ADB-2634-91BB-D1419A00F6F1}"/>
              </a:ext>
            </a:extLst>
          </p:cNvPr>
          <p:cNvSpPr txBox="1"/>
          <p:nvPr/>
        </p:nvSpPr>
        <p:spPr>
          <a:xfrm>
            <a:off x="5303681" y="1105973"/>
            <a:ext cx="1573906" cy="472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Motivation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1B191-C919-4DDA-51C6-42D631CE2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26" r="210" b="15326"/>
          <a:stretch>
            <a:fillRect/>
          </a:stretch>
        </p:blipFill>
        <p:spPr>
          <a:xfrm>
            <a:off x="2787069" y="4159073"/>
            <a:ext cx="6617872" cy="25110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80A1AC-9627-73EE-64CC-D5F28A608BA6}"/>
              </a:ext>
            </a:extLst>
          </p:cNvPr>
          <p:cNvSpPr txBox="1"/>
          <p:nvPr/>
        </p:nvSpPr>
        <p:spPr>
          <a:xfrm>
            <a:off x="2031782" y="1978696"/>
            <a:ext cx="968714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At CRM </a:t>
            </a:r>
            <a:r>
              <a:rPr lang="en-US" sz="2400"/>
              <a:t>Elevate, we</a:t>
            </a:r>
            <a:r>
              <a:rPr lang="en-US" sz="2400" dirty="0"/>
              <a:t> heard business leaders discuss the impact of the </a:t>
            </a:r>
            <a:r>
              <a:rPr lang="en-US" sz="2400"/>
              <a:t>unexpected growth of Progressive's Pet Insurance.</a:t>
            </a:r>
            <a:endParaRPr lang="en-US" sz="2400" dirty="0"/>
          </a:p>
          <a:p>
            <a:endParaRPr lang="en-US" sz="2400" dirty="0"/>
          </a:p>
          <a:p>
            <a:r>
              <a:rPr lang="en-US" sz="2400"/>
              <a:t>How can we capture more of this growing market?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175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C5FF0-199F-8691-1FD5-DCF11601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93D93-E32C-50B9-4A12-861B49C20E98}"/>
              </a:ext>
            </a:extLst>
          </p:cNvPr>
          <p:cNvSpPr txBox="1"/>
          <p:nvPr/>
        </p:nvSpPr>
        <p:spPr>
          <a:xfrm>
            <a:off x="4133850" y="1181100"/>
            <a:ext cx="544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You’re Away, Who’s Watching?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32009-6CCA-13F2-47AC-2977BDE828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24" y="4135749"/>
            <a:ext cx="663574" cy="663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4417A-FD8F-8660-FD30-63886F3DA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75" y="4196059"/>
            <a:ext cx="663575" cy="663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4B0EF-A7B4-4B40-AE60-258AD7B87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449" y="2154237"/>
            <a:ext cx="765175" cy="765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1B3877-3B3D-E5B6-4003-59EF3886AD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2127250"/>
            <a:ext cx="765175" cy="765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2D7650-83BA-21EE-708F-A7FEF9B8C208}"/>
              </a:ext>
            </a:extLst>
          </p:cNvPr>
          <p:cNvSpPr txBox="1"/>
          <p:nvPr/>
        </p:nvSpPr>
        <p:spPr>
          <a:xfrm>
            <a:off x="2012949" y="2892425"/>
            <a:ext cx="1778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Is the room too hot or cold?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6E648-DB93-48F5-669E-0828023956A3}"/>
              </a:ext>
            </a:extLst>
          </p:cNvPr>
          <p:cNvSpPr txBox="1"/>
          <p:nvPr/>
        </p:nvSpPr>
        <p:spPr>
          <a:xfrm>
            <a:off x="7821611" y="2919412"/>
            <a:ext cx="1212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Where is my pet?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7C40B9-4D19-7014-86EE-9ABCAF893B4A}"/>
              </a:ext>
            </a:extLst>
          </p:cNvPr>
          <p:cNvSpPr txBox="1"/>
          <p:nvPr/>
        </p:nvSpPr>
        <p:spPr>
          <a:xfrm>
            <a:off x="2200636" y="4843574"/>
            <a:ext cx="12668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Can I check in?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EF049-8213-A327-279B-FFAD6E0F7F52}"/>
              </a:ext>
            </a:extLst>
          </p:cNvPr>
          <p:cNvSpPr txBox="1"/>
          <p:nvPr/>
        </p:nvSpPr>
        <p:spPr>
          <a:xfrm>
            <a:off x="8728866" y="4859634"/>
            <a:ext cx="1042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Is my pet safe?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F97E2E-B42F-8702-07E3-9BB72FECFC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805" y="5026365"/>
            <a:ext cx="809454" cy="80945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96016A8-F997-A994-2D91-77C0971BFCA3}"/>
              </a:ext>
            </a:extLst>
          </p:cNvPr>
          <p:cNvSpPr txBox="1"/>
          <p:nvPr/>
        </p:nvSpPr>
        <p:spPr>
          <a:xfrm>
            <a:off x="5347182" y="5708861"/>
            <a:ext cx="12827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Has my pet eaten?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3E46F7-7F00-125D-22F4-6C850FF61F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75" y="3019383"/>
            <a:ext cx="1778001" cy="13335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0E8FE1-E694-B1FD-6BCE-D09DA943E7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39" y="4091498"/>
            <a:ext cx="707825" cy="70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83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AE6BE-0203-017C-5F7A-5EF59E29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98AC9-B908-9FFD-9A97-E6403E0D92AF}"/>
              </a:ext>
            </a:extLst>
          </p:cNvPr>
          <p:cNvSpPr txBox="1"/>
          <p:nvPr/>
        </p:nvSpPr>
        <p:spPr>
          <a:xfrm>
            <a:off x="4696138" y="1091818"/>
            <a:ext cx="3043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Meet Pet Guardian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CCAB5-AED9-18F7-EDD3-0C248881126B}"/>
              </a:ext>
            </a:extLst>
          </p:cNvPr>
          <p:cNvSpPr txBox="1"/>
          <p:nvPr/>
        </p:nvSpPr>
        <p:spPr>
          <a:xfrm>
            <a:off x="3756606" y="1571259"/>
            <a:ext cx="5764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 Raspberry Pi powered pet safety and monitoring system for when owners are away.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AACBB-BD77-1B64-A05D-7E623F200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227" y="4341811"/>
            <a:ext cx="663574" cy="663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0FD07-8947-04FA-EC95-8FC78737F280}"/>
              </a:ext>
            </a:extLst>
          </p:cNvPr>
          <p:cNvSpPr txBox="1"/>
          <p:nvPr/>
        </p:nvSpPr>
        <p:spPr>
          <a:xfrm>
            <a:off x="1686045" y="4140426"/>
            <a:ext cx="12668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Live check-in!!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DD63A5-3443-99A5-74A5-BDFD243565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42" y="4297560"/>
            <a:ext cx="707825" cy="707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796055-05F9-EC5D-56E5-67002AFFCC1D}"/>
              </a:ext>
            </a:extLst>
          </p:cNvPr>
          <p:cNvSpPr txBox="1"/>
          <p:nvPr/>
        </p:nvSpPr>
        <p:spPr>
          <a:xfrm>
            <a:off x="1372724" y="5005385"/>
            <a:ext cx="21291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See and hear your pet in real-time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FBF9E4-890D-5AE4-2175-62713E4DD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534" y="2218631"/>
            <a:ext cx="765175" cy="7651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2F1AC9-667E-7BDA-50A2-2B984BBF0FE0}"/>
              </a:ext>
            </a:extLst>
          </p:cNvPr>
          <p:cNvSpPr txBox="1"/>
          <p:nvPr/>
        </p:nvSpPr>
        <p:spPr>
          <a:xfrm>
            <a:off x="9189365" y="2040157"/>
            <a:ext cx="1100377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50" b="1" dirty="0"/>
              <a:t>Pet Proximity</a:t>
            </a:r>
            <a:endParaRPr lang="en-US" sz="105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A42EE-278D-4898-3F53-849E246B65D0}"/>
              </a:ext>
            </a:extLst>
          </p:cNvPr>
          <p:cNvSpPr txBox="1"/>
          <p:nvPr/>
        </p:nvSpPr>
        <p:spPr>
          <a:xfrm>
            <a:off x="8905884" y="2983806"/>
            <a:ext cx="26593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Estimate how close your pet is to the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04D9EE-44ED-2D16-E56A-6F01BF6EB2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459" y="2274485"/>
            <a:ext cx="765175" cy="7651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1E0758B-848F-CAFF-C3C4-71063AA76F37}"/>
              </a:ext>
            </a:extLst>
          </p:cNvPr>
          <p:cNvSpPr txBox="1"/>
          <p:nvPr/>
        </p:nvSpPr>
        <p:spPr>
          <a:xfrm>
            <a:off x="1902258" y="2091673"/>
            <a:ext cx="1703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Environment Monitoring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38660-005D-EF5B-B7CB-F4E819317623}"/>
              </a:ext>
            </a:extLst>
          </p:cNvPr>
          <p:cNvSpPr txBox="1"/>
          <p:nvPr/>
        </p:nvSpPr>
        <p:spPr>
          <a:xfrm>
            <a:off x="1444162" y="3039660"/>
            <a:ext cx="22617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Monitor Temperature and Humidity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5C5F91-6AB5-9DEE-311D-67F84F6822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537" y="3989615"/>
            <a:ext cx="809454" cy="80945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1D29A0-6E3C-FBA4-278A-9FA34570E315}"/>
              </a:ext>
            </a:extLst>
          </p:cNvPr>
          <p:cNvSpPr txBox="1"/>
          <p:nvPr/>
        </p:nvSpPr>
        <p:spPr>
          <a:xfrm>
            <a:off x="8391667" y="3862657"/>
            <a:ext cx="15057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Feeding Awareness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0FFA67-7DCC-A2E1-FA90-C90AB2AEDD27}"/>
              </a:ext>
            </a:extLst>
          </p:cNvPr>
          <p:cNvSpPr txBox="1"/>
          <p:nvPr/>
        </p:nvSpPr>
        <p:spPr>
          <a:xfrm>
            <a:off x="7650447" y="4673598"/>
            <a:ext cx="27936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Track whether food was dispensed or eaten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78113CA-FC6F-3407-C733-7EE6AD8DC9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444" y="5259301"/>
            <a:ext cx="663575" cy="6635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EFE64B7-6B12-0B63-8047-910AE790C56F}"/>
              </a:ext>
            </a:extLst>
          </p:cNvPr>
          <p:cNvSpPr txBox="1"/>
          <p:nvPr/>
        </p:nvSpPr>
        <p:spPr>
          <a:xfrm>
            <a:off x="5917503" y="5464130"/>
            <a:ext cx="24741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Peace of Mind</a:t>
            </a:r>
          </a:p>
          <a:p>
            <a:r>
              <a:rPr lang="en-US" sz="1050" dirty="0"/>
              <a:t>Better awareness when pets are home alone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256663-FD7A-5E3F-1404-D360971F3C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96" y="2933883"/>
            <a:ext cx="1778001" cy="133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6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2526E-1E1A-541C-C173-DAB0B9CC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1EBF3-B685-27FE-3A1B-2985877E71D6}"/>
              </a:ext>
            </a:extLst>
          </p:cNvPr>
          <p:cNvSpPr txBox="1"/>
          <p:nvPr/>
        </p:nvSpPr>
        <p:spPr>
          <a:xfrm>
            <a:off x="4771623" y="1165538"/>
            <a:ext cx="305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Building Pet Guardian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0D837-63ED-1610-50F3-EFFED0627736}"/>
              </a:ext>
            </a:extLst>
          </p:cNvPr>
          <p:cNvSpPr txBox="1"/>
          <p:nvPr/>
        </p:nvSpPr>
        <p:spPr>
          <a:xfrm>
            <a:off x="4462529" y="1562809"/>
            <a:ext cx="37705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The hardware powering pet safety, monitoring, and awareness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43D76-6507-7713-0608-CD1BD5C15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781" y="2914030"/>
            <a:ext cx="1901515" cy="1202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58E907-B36F-6BF0-3BBE-8F56648EA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276" y="4846953"/>
            <a:ext cx="798694" cy="567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03796-312C-1184-6A3B-2906568E0C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337" y="5204619"/>
            <a:ext cx="693163" cy="673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1D3E81-3A00-08E6-DFD5-EDB1DB1F5E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513" y="4765635"/>
            <a:ext cx="750926" cy="673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736CA-49AB-5C7A-35D3-D8A82C0BA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167" y="1702334"/>
            <a:ext cx="775044" cy="6797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E8A5FA-C311-F31E-EDA4-4696DE0568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013" y="2130481"/>
            <a:ext cx="654309" cy="10765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D22BCE-BD71-79D5-0386-374C5F6E47D4}"/>
              </a:ext>
            </a:extLst>
          </p:cNvPr>
          <p:cNvSpPr txBox="1"/>
          <p:nvPr/>
        </p:nvSpPr>
        <p:spPr>
          <a:xfrm>
            <a:off x="2791640" y="1758447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Camera Module</a:t>
            </a:r>
          </a:p>
          <a:p>
            <a:r>
              <a:rPr lang="en-US" sz="900" dirty="0"/>
              <a:t>Live Video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E7029-BE4F-E6C9-2BE7-FC031D51B8D2}"/>
              </a:ext>
            </a:extLst>
          </p:cNvPr>
          <p:cNvSpPr txBox="1"/>
          <p:nvPr/>
        </p:nvSpPr>
        <p:spPr>
          <a:xfrm>
            <a:off x="8656032" y="1313188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Microphone</a:t>
            </a:r>
          </a:p>
          <a:p>
            <a:r>
              <a:rPr lang="en-US" sz="900" dirty="0"/>
              <a:t>Audio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FD3FAC-E1A5-4B9F-3935-650462B7A71C}"/>
              </a:ext>
            </a:extLst>
          </p:cNvPr>
          <p:cNvSpPr txBox="1"/>
          <p:nvPr/>
        </p:nvSpPr>
        <p:spPr>
          <a:xfrm>
            <a:off x="5925532" y="4116922"/>
            <a:ext cx="7906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Central Hub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D587B9-B253-4977-FD7D-736BFF3227B9}"/>
              </a:ext>
            </a:extLst>
          </p:cNvPr>
          <p:cNvSpPr txBox="1"/>
          <p:nvPr/>
        </p:nvSpPr>
        <p:spPr>
          <a:xfrm>
            <a:off x="3518142" y="5439146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BME 280 Sensor</a:t>
            </a:r>
          </a:p>
          <a:p>
            <a:r>
              <a:rPr lang="en-US" sz="900" dirty="0"/>
              <a:t>Temp/Humidity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10CA39-B8F9-C3BC-6195-C7EF706B2D67}"/>
              </a:ext>
            </a:extLst>
          </p:cNvPr>
          <p:cNvSpPr txBox="1"/>
          <p:nvPr/>
        </p:nvSpPr>
        <p:spPr>
          <a:xfrm>
            <a:off x="9028289" y="5464229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BLE Pet Tag</a:t>
            </a:r>
          </a:p>
          <a:p>
            <a:r>
              <a:rPr lang="en-US" sz="900" dirty="0"/>
              <a:t>Pet Proximity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D9C44D-C1EA-E890-32FB-AC23F6E18DC7}"/>
              </a:ext>
            </a:extLst>
          </p:cNvPr>
          <p:cNvSpPr txBox="1"/>
          <p:nvPr/>
        </p:nvSpPr>
        <p:spPr>
          <a:xfrm>
            <a:off x="6439782" y="5870588"/>
            <a:ext cx="114486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 b="1" dirty="0"/>
              <a:t>Load Cell</a:t>
            </a:r>
          </a:p>
          <a:p>
            <a:r>
              <a:rPr lang="en-US" sz="900" dirty="0"/>
              <a:t>Feeding awareness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A70837-7FB7-1EDB-3D29-2CB70CFCEF5B}"/>
              </a:ext>
            </a:extLst>
          </p:cNvPr>
          <p:cNvCxnSpPr>
            <a:cxnSpLocks/>
          </p:cNvCxnSpPr>
          <p:nvPr/>
        </p:nvCxnSpPr>
        <p:spPr>
          <a:xfrm>
            <a:off x="3730322" y="2668755"/>
            <a:ext cx="1688459" cy="245275"/>
          </a:xfrm>
          <a:prstGeom prst="line">
            <a:avLst/>
          </a:prstGeom>
          <a:ln w="31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701CAB-8DDC-761B-3EB3-A22932C856AF}"/>
              </a:ext>
            </a:extLst>
          </p:cNvPr>
          <p:cNvCxnSpPr>
            <a:cxnSpLocks/>
          </p:cNvCxnSpPr>
          <p:nvPr/>
        </p:nvCxnSpPr>
        <p:spPr>
          <a:xfrm flipH="1">
            <a:off x="7320296" y="2042220"/>
            <a:ext cx="1650871" cy="871810"/>
          </a:xfrm>
          <a:prstGeom prst="line">
            <a:avLst/>
          </a:prstGeom>
          <a:ln w="31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A63B1C-4524-D897-0C38-39F848558450}"/>
              </a:ext>
            </a:extLst>
          </p:cNvPr>
          <p:cNvCxnSpPr>
            <a:cxnSpLocks/>
          </p:cNvCxnSpPr>
          <p:nvPr/>
        </p:nvCxnSpPr>
        <p:spPr>
          <a:xfrm flipH="1" flipV="1">
            <a:off x="7320296" y="3515476"/>
            <a:ext cx="1827217" cy="1586915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9B04F7-C20D-E60E-A7F4-A3CE309D2DD3}"/>
              </a:ext>
            </a:extLst>
          </p:cNvPr>
          <p:cNvCxnSpPr>
            <a:cxnSpLocks/>
          </p:cNvCxnSpPr>
          <p:nvPr/>
        </p:nvCxnSpPr>
        <p:spPr>
          <a:xfrm flipV="1">
            <a:off x="6855644" y="4143198"/>
            <a:ext cx="24472" cy="1008871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690FEC-F5EB-A0B8-CE78-E5D961BD8A6B}"/>
              </a:ext>
            </a:extLst>
          </p:cNvPr>
          <p:cNvCxnSpPr>
            <a:cxnSpLocks/>
          </p:cNvCxnSpPr>
          <p:nvPr/>
        </p:nvCxnSpPr>
        <p:spPr>
          <a:xfrm flipV="1">
            <a:off x="4009623" y="3515476"/>
            <a:ext cx="1409158" cy="1331477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41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A3A7C-3868-8C68-6038-D2ACC0BE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02C360-CF3E-F7B3-2431-E5399BFA9A4C}"/>
              </a:ext>
            </a:extLst>
          </p:cNvPr>
          <p:cNvSpPr txBox="1"/>
          <p:nvPr/>
        </p:nvSpPr>
        <p:spPr>
          <a:xfrm>
            <a:off x="4771623" y="1165538"/>
            <a:ext cx="30587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Dashboard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C9CC9-F6A8-C5B6-FEB7-6A9C7F7DAB41}"/>
              </a:ext>
            </a:extLst>
          </p:cNvPr>
          <p:cNvSpPr txBox="1"/>
          <p:nvPr/>
        </p:nvSpPr>
        <p:spPr>
          <a:xfrm>
            <a:off x="2050621" y="1814010"/>
            <a:ext cx="9109491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Two Approaches</a:t>
            </a:r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/>
              <a:t>Create customized dashboard "from scratch"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/>
              <a:t>Start from blank code repository, use CoPilot to generate PGR-themed dashboard based on input specifications</a:t>
            </a:r>
          </a:p>
          <a:p>
            <a:pPr marL="457200" indent="-457200">
              <a:buAutoNum type="arabicPeriod"/>
            </a:pPr>
            <a:r>
              <a:rPr lang="en-US" sz="2400"/>
              <a:t>Use Node-RED – low-code solution with native support for Arduino/Raspberry Pi inputs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/>
              <a:t>Leverage pre-existing dashboard framework and use Node-RED documentation alongside AI to implement each sensor reading and visualization</a:t>
            </a:r>
          </a:p>
          <a:p>
            <a:pPr marL="914400" lvl="1" indent="-457200">
              <a:buFont typeface="Courier New"/>
              <a:buChar char="o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830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2A406-535E-159E-85E4-03CC823E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AD29FA-65CE-716D-7645-E6A6579D9F88}"/>
              </a:ext>
            </a:extLst>
          </p:cNvPr>
          <p:cNvSpPr txBox="1"/>
          <p:nvPr/>
        </p:nvSpPr>
        <p:spPr>
          <a:xfrm>
            <a:off x="3313544" y="956648"/>
            <a:ext cx="555940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800"/>
              <a:t>Dashboard Concept 1 – Tech Stack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125FE-4AB4-D400-F336-CD09D0E11411}"/>
              </a:ext>
            </a:extLst>
          </p:cNvPr>
          <p:cNvSpPr txBox="1"/>
          <p:nvPr/>
        </p:nvSpPr>
        <p:spPr>
          <a:xfrm>
            <a:off x="3701088" y="1755031"/>
            <a:ext cx="55541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Flask backend to serve the dashboard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502F5-0595-E603-8734-6100A6571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256" y="1589223"/>
            <a:ext cx="1416316" cy="703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46AAA0-303E-A4FF-59C6-53E07155C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24" y="2401189"/>
            <a:ext cx="1158011" cy="866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51025-1923-B4E2-3807-DF48EDA60C6C}"/>
              </a:ext>
            </a:extLst>
          </p:cNvPr>
          <p:cNvSpPr txBox="1"/>
          <p:nvPr/>
        </p:nvSpPr>
        <p:spPr>
          <a:xfrm>
            <a:off x="3698993" y="2617909"/>
            <a:ext cx="55541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OpenCV captures and prepares live camera feed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049190-9E09-7F08-8914-0D36D68598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385" y="3586035"/>
            <a:ext cx="1034879" cy="11481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74AD3D-A739-8C8E-082C-C86379EEA4DB}"/>
              </a:ext>
            </a:extLst>
          </p:cNvPr>
          <p:cNvSpPr txBox="1"/>
          <p:nvPr/>
        </p:nvSpPr>
        <p:spPr>
          <a:xfrm>
            <a:off x="3698993" y="3699125"/>
            <a:ext cx="55541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Read BME280 environmental data through I2C (inter-integrated circuit) bus with </a:t>
            </a:r>
            <a:r>
              <a:rPr lang="en-US" dirty="0" err="1"/>
              <a:t>RaspPi</a:t>
            </a:r>
            <a:r>
              <a:rPr lang="en-US" dirty="0"/>
              <a:t> OS packages bme280 and smbus2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C5506E-225C-015D-3227-E003A564A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9162" y="4738816"/>
            <a:ext cx="1554893" cy="8711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833CAD-4ED9-44A1-0F1B-6EA20930A26B}"/>
              </a:ext>
            </a:extLst>
          </p:cNvPr>
          <p:cNvSpPr txBox="1"/>
          <p:nvPr/>
        </p:nvSpPr>
        <p:spPr>
          <a:xfrm>
            <a:off x="3698993" y="4986287"/>
            <a:ext cx="55541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BLE </a:t>
            </a:r>
            <a:r>
              <a:rPr lang="en-US"/>
              <a:t>Scanning with Bleak python library 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446E34-0222-0733-D12D-E5A3386380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356" y="5614086"/>
            <a:ext cx="922639" cy="9123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64CA6A1-1E8F-B528-5AF4-4CF61C943114}"/>
              </a:ext>
            </a:extLst>
          </p:cNvPr>
          <p:cNvSpPr txBox="1"/>
          <p:nvPr/>
        </p:nvSpPr>
        <p:spPr>
          <a:xfrm>
            <a:off x="3698993" y="5882152"/>
            <a:ext cx="55541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YAMNet</a:t>
            </a:r>
            <a:r>
              <a:rPr lang="en-US" dirty="0"/>
              <a:t> TensorFlow Lite model for audio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8262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F67124-6FE3-831F-6E86-F5677B0345C5}"/>
              </a:ext>
            </a:extLst>
          </p:cNvPr>
          <p:cNvSpPr txBox="1"/>
          <p:nvPr/>
        </p:nvSpPr>
        <p:spPr>
          <a:xfrm>
            <a:off x="5170247" y="2602462"/>
            <a:ext cx="18546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Demo 1</a:t>
            </a:r>
          </a:p>
        </p:txBody>
      </p:sp>
    </p:spTree>
    <p:extLst>
      <p:ext uri="{BB962C8B-B14F-4D97-AF65-F5344CB8AC3E}">
        <p14:creationId xmlns:p14="http://schemas.microsoft.com/office/powerpoint/2010/main" val="36914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C166B-6EF5-99C7-6F5B-5CE15ED4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D08EBC-7286-46C1-CDE5-A3598765D077}"/>
              </a:ext>
            </a:extLst>
          </p:cNvPr>
          <p:cNvSpPr txBox="1"/>
          <p:nvPr/>
        </p:nvSpPr>
        <p:spPr>
          <a:xfrm>
            <a:off x="4108450" y="2870200"/>
            <a:ext cx="475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it works, add dashboard, alerts, </a:t>
            </a:r>
            <a:r>
              <a:rPr lang="en-US" dirty="0" err="1"/>
              <a:t>etc</a:t>
            </a:r>
            <a:r>
              <a:rPr lang="en-US" dirty="0"/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135955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ECCDD-76E5-9277-E530-B1E41C26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62A71-3A26-894D-2917-F2D8D484EBF3}"/>
              </a:ext>
            </a:extLst>
          </p:cNvPr>
          <p:cNvSpPr txBox="1"/>
          <p:nvPr/>
        </p:nvSpPr>
        <p:spPr>
          <a:xfrm>
            <a:off x="5175250" y="3092450"/>
            <a:ext cx="281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 video demo here??</a:t>
            </a:r>
          </a:p>
        </p:txBody>
      </p:sp>
    </p:spTree>
    <p:extLst>
      <p:ext uri="{BB962C8B-B14F-4D97-AF65-F5344CB8AC3E}">
        <p14:creationId xmlns:p14="http://schemas.microsoft.com/office/powerpoint/2010/main" val="2843351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C758D-94EC-EE9A-4DB0-C9236ACF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5422EA-FBCD-9E2D-CE98-223FC642188A}"/>
              </a:ext>
            </a:extLst>
          </p:cNvPr>
          <p:cNvSpPr txBox="1"/>
          <p:nvPr/>
        </p:nvSpPr>
        <p:spPr>
          <a:xfrm>
            <a:off x="5816600" y="2971800"/>
            <a:ext cx="272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Future enhancements???</a:t>
            </a:r>
          </a:p>
        </p:txBody>
      </p:sp>
    </p:spTree>
    <p:extLst>
      <p:ext uri="{BB962C8B-B14F-4D97-AF65-F5344CB8AC3E}">
        <p14:creationId xmlns:p14="http://schemas.microsoft.com/office/powerpoint/2010/main" val="2591129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04137-57EF-6D49-93ED-F3091062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086CD-B820-9A17-0AE9-8920ED8A5030}"/>
              </a:ext>
            </a:extLst>
          </p:cNvPr>
          <p:cNvSpPr txBox="1"/>
          <p:nvPr/>
        </p:nvSpPr>
        <p:spPr>
          <a:xfrm>
            <a:off x="5816600" y="2971800"/>
            <a:ext cx="373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Insurance tie-in…closing impact???</a:t>
            </a:r>
          </a:p>
        </p:txBody>
      </p:sp>
    </p:spTree>
    <p:extLst>
      <p:ext uri="{BB962C8B-B14F-4D97-AF65-F5344CB8AC3E}">
        <p14:creationId xmlns:p14="http://schemas.microsoft.com/office/powerpoint/2010/main" val="418106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0C6D-4C80-E42D-90DF-33EAB6D7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2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ADF2-78C9-7142-6B37-B14C14F5D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CB09D-DF14-3717-9A28-3BE9BEB60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9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161</Words>
  <Application>Microsoft Office PowerPoint</Application>
  <PresentationFormat>Widescreen</PresentationFormat>
  <Paragraphs>35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Lall</dc:creator>
  <cp:lastModifiedBy>Andrew Lall</cp:lastModifiedBy>
  <cp:revision>282</cp:revision>
  <dcterms:created xsi:type="dcterms:W3CDTF">2026-10-12T13:22:38Z</dcterms:created>
  <dcterms:modified xsi:type="dcterms:W3CDTF">2026-10-14T20:56:02Z</dcterms:modified>
</cp:coreProperties>
</file>