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0" r:id="rId2"/>
    <p:sldId id="265" r:id="rId3"/>
    <p:sldId id="272" r:id="rId4"/>
    <p:sldId id="263" r:id="rId5"/>
    <p:sldId id="264" r:id="rId6"/>
    <p:sldId id="273" r:id="rId7"/>
    <p:sldId id="281" r:id="rId8"/>
    <p:sldId id="271" r:id="rId9"/>
    <p:sldId id="274" r:id="rId10"/>
    <p:sldId id="277" r:id="rId11"/>
    <p:sldId id="279" r:id="rId12"/>
    <p:sldId id="269" r:id="rId13"/>
    <p:sldId id="2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822110-B00D-4CCF-8DF2-1C627B7504CB}" v="1903" dt="2026-10-14T21:06:17.2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8AFA33-C91A-4BAC-8FB7-B9049AF93BB0}" type="datetimeFigureOut"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89D4BE-DF6E-4D7C-A31C-B28547A97B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653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98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Mention that AI has sped up development greatly, which afforded us the chance to look at two different dashboard approaches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0246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Maybe have AI clean up this slide a 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1610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349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160EC-5C04-29CB-9769-1CBC2E849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06FD77-B51D-77F7-A77A-47B6F6DB77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42927-855D-E770-B832-D815D86A7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DBB21-43D0-18E0-3639-A38C58853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6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44DB5-06BB-0E02-0B90-19DADDA32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AA7FD1-3192-D9DC-AB24-2D77D3B15E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D5CB7-6A7A-322D-B9E2-82FDBEFA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4E44B-1655-65C8-7110-F3906BADB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C80FD-2786-6349-ABDA-452333CE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2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F434F-ED52-AC5B-A2E9-558007C85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74740-5006-F496-2D3B-824F986FB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FCABB-0ABD-2BC9-05DC-3DE2A73CA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089A5-06A3-5B7C-5297-E04B9084F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07A6A-45DD-DB03-18B5-CD1FA4C92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5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DA29-AC18-B676-E43B-73FCC912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BF56FD-8BE4-DCC1-9CAE-8A2C06908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B0684-4551-7A78-A923-C0927937A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E50BB-AAF8-81FF-93D5-DEE5D99B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A1CCC-AAA2-80C8-6631-47DF4E5CC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760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D4955-1158-3F1E-369F-64F94976B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EC42D-3D15-9F9E-FCB0-E76709A4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A74EC-76AA-4B14-3289-7C8CD89F8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8754B2-751C-CC2B-2F9E-A4BBE5F12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4AC9F-DF02-D49D-E63F-3E0CE7617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3BE65-5E48-E4EB-7EB0-D5350258C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590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21C67-EF84-D365-93D9-F56FBA451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F7B56-A07C-10CF-C5B5-654248AF9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6AEDF0-5C33-0659-A38B-AFECEB2C94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E6E02-A880-E93E-0763-C5FB2D4C6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622C19-FE35-8240-6B8F-251525C941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119672-2A0A-BD53-7563-F637B23B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B6DF4-F6E0-460E-ED20-CD2B32C28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209B08-A02D-A4C4-E862-5448495D2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48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393-1ED9-5FE4-C9BE-F14B9F072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F692D-77A4-412C-704A-C15E99E6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B3F5B4-A8BA-2A10-0EF4-78891666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4F5D2B-6F35-6155-CD6E-CDED9BDC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696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13E03B-894D-319A-5D7B-64AC00BA6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CE52C2-0ED1-3D31-9DEF-1C0EBA5EA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3E7F4-60D2-A606-3225-7D5ED6EC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257C-9887-B524-CD94-0163ADD46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A0AA3-F4D9-7693-A992-53B8B8CAB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489A6-F2AE-F287-5B2C-1F1E2544E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FAD5-58F1-B598-2572-0DDE7D5F4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9088F-67C2-E51C-34C5-8FA9B359D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F173-D2D5-F331-C77C-A976CBEAF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167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6FFF-874D-074E-9ED6-EA32F9F74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26F173-AB8A-B13C-4104-BDD83AAF16C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1292B9-FDDC-72BB-43DA-2EDD0F1B6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C4ACB-D0A9-F2AB-DF3E-5A250E4B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E38DF-7094-2E4F-FFD9-B4CAB72A1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97528-4EC1-59B7-D279-90ED051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90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1B1B-9A4E-E413-4F92-E03DEBAE5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43DD57-5E6D-0D87-3BB3-8E2D2B20D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8C4F6-5E8B-BE68-8119-E1DF1201A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0980B-3946-42A9-D0EA-B5A690D88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814A0-4655-AFAF-ED41-5FB82EFC0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94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700BBE-A1ED-D8D5-F723-0B288D316A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F5D50D-1EDF-DE7A-4AD0-354F23CF2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631AF-7713-218F-2A50-48E542EAF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07C3C-0E3B-B9CD-9C0B-258FC9A11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609E6-2E47-0504-D0F6-2D0AA14C9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10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30680F-A7E3-3EB3-2062-846BD85EF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E764C-AA33-93D2-D7DD-2EE068337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10AF9-3068-9C44-4D22-03E74993CD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7FE77-200D-49C5-A076-06A10B1B9D3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524AC-4070-1041-844C-E71F9B1A35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A169-B624-33FC-C49C-502C9E481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14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57CD8-B029-B245-9F04-4F9D4B9D7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3E36BE-F632-9A97-1577-3E34929DE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046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9ED4E1-6D4D-EB46-5844-A8FF18F11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26D142-CEAD-84B3-C0B5-58E70729B9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3650" y="0"/>
            <a:ext cx="102933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475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B2EB2F-AC99-49D4-245F-F8CFBB90C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02EB53C-6ADB-2634-91BB-D1419A00F6F1}"/>
              </a:ext>
            </a:extLst>
          </p:cNvPr>
          <p:cNvSpPr txBox="1"/>
          <p:nvPr/>
        </p:nvSpPr>
        <p:spPr>
          <a:xfrm>
            <a:off x="5303681" y="1105973"/>
            <a:ext cx="1573906" cy="4723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/>
              <a:t>Motivation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81B191-C919-4DDA-51C6-42D631CE20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326" r="210" b="15326"/>
          <a:stretch>
            <a:fillRect/>
          </a:stretch>
        </p:blipFill>
        <p:spPr>
          <a:xfrm>
            <a:off x="2787069" y="4159073"/>
            <a:ext cx="6617872" cy="25110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80A1AC-9627-73EE-64CC-D5F28A608BA6}"/>
              </a:ext>
            </a:extLst>
          </p:cNvPr>
          <p:cNvSpPr txBox="1"/>
          <p:nvPr/>
        </p:nvSpPr>
        <p:spPr>
          <a:xfrm>
            <a:off x="2031782" y="1978696"/>
            <a:ext cx="9687146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At CRM </a:t>
            </a:r>
            <a:r>
              <a:rPr lang="en-US" sz="2400"/>
              <a:t>Elevate, we</a:t>
            </a:r>
            <a:r>
              <a:rPr lang="en-US" sz="2400" dirty="0"/>
              <a:t> heard business leaders discuss the impact of the </a:t>
            </a:r>
            <a:r>
              <a:rPr lang="en-US" sz="2400"/>
              <a:t>unexpected growth of Progressive's Pet Insurance.</a:t>
            </a:r>
            <a:endParaRPr lang="en-US" sz="2400" dirty="0"/>
          </a:p>
          <a:p>
            <a:endParaRPr lang="en-US" sz="2400" dirty="0"/>
          </a:p>
          <a:p>
            <a:r>
              <a:rPr lang="en-US" sz="2400"/>
              <a:t>How can we capture more of this growing market?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1756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AE6BE-0203-017C-5F7A-5EF59E29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C98AC9-B908-9FFD-9A97-E6403E0D92AF}"/>
              </a:ext>
            </a:extLst>
          </p:cNvPr>
          <p:cNvSpPr txBox="1"/>
          <p:nvPr/>
        </p:nvSpPr>
        <p:spPr>
          <a:xfrm>
            <a:off x="4701588" y="914383"/>
            <a:ext cx="3043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Meet Pet Guardian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8CCAB5-AED9-18F7-EDD3-0C248881126B}"/>
              </a:ext>
            </a:extLst>
          </p:cNvPr>
          <p:cNvSpPr txBox="1"/>
          <p:nvPr/>
        </p:nvSpPr>
        <p:spPr>
          <a:xfrm>
            <a:off x="3705948" y="1312191"/>
            <a:ext cx="5764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 Raspberry Pi powered pet safety and monitoring system for when owners are away.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2AACBB-BD77-1B64-A05D-7E623F2005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7227" y="4341811"/>
            <a:ext cx="663574" cy="6635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FD0FD07-8947-04FA-EC95-8FC78737F280}"/>
              </a:ext>
            </a:extLst>
          </p:cNvPr>
          <p:cNvSpPr txBox="1"/>
          <p:nvPr/>
        </p:nvSpPr>
        <p:spPr>
          <a:xfrm>
            <a:off x="1686045" y="4140426"/>
            <a:ext cx="126682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Live check-in!!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DD63A5-3443-99A5-74A5-BDFD243565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9742" y="4297560"/>
            <a:ext cx="707825" cy="7078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96055-05F9-EC5D-56E5-67002AFFCC1D}"/>
              </a:ext>
            </a:extLst>
          </p:cNvPr>
          <p:cNvSpPr txBox="1"/>
          <p:nvPr/>
        </p:nvSpPr>
        <p:spPr>
          <a:xfrm>
            <a:off x="1372724" y="5005385"/>
            <a:ext cx="21291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See and hear your pet in real-time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FBF9E4-890D-5AE4-2175-62713E4DD8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5534" y="2218631"/>
            <a:ext cx="765175" cy="7651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72F1AC9-667E-7BDA-50A2-2B984BBF0FE0}"/>
              </a:ext>
            </a:extLst>
          </p:cNvPr>
          <p:cNvSpPr txBox="1"/>
          <p:nvPr/>
        </p:nvSpPr>
        <p:spPr>
          <a:xfrm>
            <a:off x="9189365" y="2040157"/>
            <a:ext cx="1100377" cy="2539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050" b="1" dirty="0"/>
              <a:t>Pet Location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1A42EE-278D-4898-3F53-849E246B65D0}"/>
              </a:ext>
            </a:extLst>
          </p:cNvPr>
          <p:cNvSpPr txBox="1"/>
          <p:nvPr/>
        </p:nvSpPr>
        <p:spPr>
          <a:xfrm>
            <a:off x="8905884" y="2983806"/>
            <a:ext cx="26593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Estimate how close your pet is to the HUB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504D9EE-44ED-2D16-E56A-6F01BF6EB2B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459" y="2274485"/>
            <a:ext cx="765175" cy="7651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1E0758B-848F-CAFF-C3C4-71063AA76F37}"/>
              </a:ext>
            </a:extLst>
          </p:cNvPr>
          <p:cNvSpPr txBox="1"/>
          <p:nvPr/>
        </p:nvSpPr>
        <p:spPr>
          <a:xfrm>
            <a:off x="1902258" y="2091673"/>
            <a:ext cx="170382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Environment Monitoring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F38660-005D-EF5B-B7CB-F4E819317623}"/>
              </a:ext>
            </a:extLst>
          </p:cNvPr>
          <p:cNvSpPr txBox="1"/>
          <p:nvPr/>
        </p:nvSpPr>
        <p:spPr>
          <a:xfrm>
            <a:off x="1444162" y="3039660"/>
            <a:ext cx="226178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Monitor Temperature and Humidity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65C5F91-6AB5-9DEE-311D-67F84F6822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738" y="4267384"/>
            <a:ext cx="809454" cy="80945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1D29A0-6E3C-FBA4-278A-9FA34570E315}"/>
              </a:ext>
            </a:extLst>
          </p:cNvPr>
          <p:cNvSpPr txBox="1"/>
          <p:nvPr/>
        </p:nvSpPr>
        <p:spPr>
          <a:xfrm>
            <a:off x="9536868" y="4140426"/>
            <a:ext cx="15057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Feeding Awareness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0FFA67-7DCC-A2E1-FA90-C90AB2AEDD27}"/>
              </a:ext>
            </a:extLst>
          </p:cNvPr>
          <p:cNvSpPr txBox="1"/>
          <p:nvPr/>
        </p:nvSpPr>
        <p:spPr>
          <a:xfrm>
            <a:off x="8795648" y="4951367"/>
            <a:ext cx="27936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Track whether food was dispensed or eaten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F78113CA-FC6F-3407-C733-7EE6AD8DC98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6144" y="5611829"/>
            <a:ext cx="663575" cy="6635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EFE64B7-6B12-0B63-8047-910AE790C56F}"/>
              </a:ext>
            </a:extLst>
          </p:cNvPr>
          <p:cNvSpPr txBox="1"/>
          <p:nvPr/>
        </p:nvSpPr>
        <p:spPr>
          <a:xfrm>
            <a:off x="5803203" y="5816658"/>
            <a:ext cx="24741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Peace of Mind</a:t>
            </a:r>
          </a:p>
          <a:p>
            <a:r>
              <a:rPr lang="en-US" sz="1050" dirty="0"/>
              <a:t>Better awareness when pets are home alone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CADEBD-F243-F167-1F66-6E9EE19845E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59381" y="1885765"/>
            <a:ext cx="870019" cy="87001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629A02-4C59-26E2-074E-AB97828707A2}"/>
              </a:ext>
            </a:extLst>
          </p:cNvPr>
          <p:cNvSpPr txBox="1"/>
          <p:nvPr/>
        </p:nvSpPr>
        <p:spPr>
          <a:xfrm>
            <a:off x="5702231" y="1733082"/>
            <a:ext cx="10483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Steps Tracker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9510A-BEB8-0BBF-478F-5E0E71F01402}"/>
              </a:ext>
            </a:extLst>
          </p:cNvPr>
          <p:cNvSpPr txBox="1"/>
          <p:nvPr/>
        </p:nvSpPr>
        <p:spPr>
          <a:xfrm>
            <a:off x="5373591" y="2692326"/>
            <a:ext cx="190985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Monitor Activity &amp; Movement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193F09D-6A84-231B-78EA-C07326A05F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18872" y="3261185"/>
            <a:ext cx="2985744" cy="1990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64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F2526E-1E1A-541C-C173-DAB0B9CC3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1EBF3-B685-27FE-3A1B-2985877E71D6}"/>
              </a:ext>
            </a:extLst>
          </p:cNvPr>
          <p:cNvSpPr txBox="1"/>
          <p:nvPr/>
        </p:nvSpPr>
        <p:spPr>
          <a:xfrm>
            <a:off x="4771623" y="1165538"/>
            <a:ext cx="305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Building Pet Guardian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0D837-63ED-1610-50F3-EFFED0627736}"/>
              </a:ext>
            </a:extLst>
          </p:cNvPr>
          <p:cNvSpPr txBox="1"/>
          <p:nvPr/>
        </p:nvSpPr>
        <p:spPr>
          <a:xfrm>
            <a:off x="4462529" y="1562809"/>
            <a:ext cx="37705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The hardware powering pet safety, monitoring, and awareness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43D76-6507-7713-0608-CD1BD5C15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8781" y="2914030"/>
            <a:ext cx="1901515" cy="1202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58E907-B36F-6BF0-3BBE-8F56648EA4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0276" y="4846953"/>
            <a:ext cx="798694" cy="567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703796-312C-1184-6A3B-2906568E0C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337" y="5204619"/>
            <a:ext cx="693163" cy="6735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1D3E81-3A00-08E6-DFD5-EDB1DB1F5E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7513" y="4765635"/>
            <a:ext cx="750926" cy="6735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736CA-49AB-5C7A-35D3-D8A82C0BA0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1167" y="1702334"/>
            <a:ext cx="775044" cy="6797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FE8A5FA-C311-F31E-EDA4-4696DE0568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6013" y="2130481"/>
            <a:ext cx="654309" cy="107654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D22BCE-BD71-79D5-0386-374C5F6E47D4}"/>
              </a:ext>
            </a:extLst>
          </p:cNvPr>
          <p:cNvSpPr txBox="1"/>
          <p:nvPr/>
        </p:nvSpPr>
        <p:spPr>
          <a:xfrm>
            <a:off x="2791640" y="1758447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Camera Module</a:t>
            </a:r>
          </a:p>
          <a:p>
            <a:r>
              <a:rPr lang="en-US" sz="900" dirty="0"/>
              <a:t>Live Video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EE7029-BE4F-E6C9-2BE7-FC031D51B8D2}"/>
              </a:ext>
            </a:extLst>
          </p:cNvPr>
          <p:cNvSpPr txBox="1"/>
          <p:nvPr/>
        </p:nvSpPr>
        <p:spPr>
          <a:xfrm>
            <a:off x="8656032" y="1313188"/>
            <a:ext cx="1029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Microphone</a:t>
            </a:r>
          </a:p>
          <a:p>
            <a:r>
              <a:rPr lang="en-US" sz="900" dirty="0"/>
              <a:t>Audio Monitoring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FD3FAC-E1A5-4B9F-3935-650462B7A71C}"/>
              </a:ext>
            </a:extLst>
          </p:cNvPr>
          <p:cNvSpPr txBox="1"/>
          <p:nvPr/>
        </p:nvSpPr>
        <p:spPr>
          <a:xfrm>
            <a:off x="5925532" y="4116922"/>
            <a:ext cx="7906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Central Hub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D587B9-B253-4977-FD7D-736BFF3227B9}"/>
              </a:ext>
            </a:extLst>
          </p:cNvPr>
          <p:cNvSpPr txBox="1"/>
          <p:nvPr/>
        </p:nvSpPr>
        <p:spPr>
          <a:xfrm>
            <a:off x="3518142" y="5439146"/>
            <a:ext cx="1016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BME 280 Sensor</a:t>
            </a:r>
          </a:p>
          <a:p>
            <a:r>
              <a:rPr lang="en-US" sz="900" dirty="0"/>
              <a:t>Temp/Humidity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10CA39-B8F9-C3BC-6195-C7EF706B2D67}"/>
              </a:ext>
            </a:extLst>
          </p:cNvPr>
          <p:cNvSpPr txBox="1"/>
          <p:nvPr/>
        </p:nvSpPr>
        <p:spPr>
          <a:xfrm>
            <a:off x="9028289" y="5464229"/>
            <a:ext cx="837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BLE Pet Tag</a:t>
            </a:r>
          </a:p>
          <a:p>
            <a:r>
              <a:rPr lang="en-US" sz="900" dirty="0"/>
              <a:t>Pet Proximity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D9C44D-C1EA-E890-32FB-AC23F6E18DC7}"/>
              </a:ext>
            </a:extLst>
          </p:cNvPr>
          <p:cNvSpPr txBox="1"/>
          <p:nvPr/>
        </p:nvSpPr>
        <p:spPr>
          <a:xfrm>
            <a:off x="6439782" y="5870588"/>
            <a:ext cx="1144865" cy="36933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900" b="1" dirty="0"/>
              <a:t>Load Cell</a:t>
            </a:r>
          </a:p>
          <a:p>
            <a:r>
              <a:rPr lang="en-US" sz="900" dirty="0"/>
              <a:t>Feeding awareness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A70837-7FB7-1EDB-3D29-2CB70CFCEF5B}"/>
              </a:ext>
            </a:extLst>
          </p:cNvPr>
          <p:cNvCxnSpPr>
            <a:cxnSpLocks/>
          </p:cNvCxnSpPr>
          <p:nvPr/>
        </p:nvCxnSpPr>
        <p:spPr>
          <a:xfrm>
            <a:off x="3730322" y="2668755"/>
            <a:ext cx="1688459" cy="245275"/>
          </a:xfrm>
          <a:prstGeom prst="line">
            <a:avLst/>
          </a:prstGeom>
          <a:ln w="31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E701CAB-8DDC-761B-3EB3-A22932C856AF}"/>
              </a:ext>
            </a:extLst>
          </p:cNvPr>
          <p:cNvCxnSpPr>
            <a:cxnSpLocks/>
          </p:cNvCxnSpPr>
          <p:nvPr/>
        </p:nvCxnSpPr>
        <p:spPr>
          <a:xfrm flipH="1">
            <a:off x="7320296" y="2042220"/>
            <a:ext cx="1650871" cy="871810"/>
          </a:xfrm>
          <a:prstGeom prst="line">
            <a:avLst/>
          </a:prstGeom>
          <a:ln w="31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A63B1C-4524-D897-0C38-39F848558450}"/>
              </a:ext>
            </a:extLst>
          </p:cNvPr>
          <p:cNvCxnSpPr>
            <a:cxnSpLocks/>
          </p:cNvCxnSpPr>
          <p:nvPr/>
        </p:nvCxnSpPr>
        <p:spPr>
          <a:xfrm flipH="1" flipV="1">
            <a:off x="7320296" y="3515476"/>
            <a:ext cx="1827217" cy="1586915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E9B04F7-C20D-E60E-A7F4-A3CE309D2DD3}"/>
              </a:ext>
            </a:extLst>
          </p:cNvPr>
          <p:cNvCxnSpPr>
            <a:cxnSpLocks/>
          </p:cNvCxnSpPr>
          <p:nvPr/>
        </p:nvCxnSpPr>
        <p:spPr>
          <a:xfrm flipV="1">
            <a:off x="6855644" y="4143198"/>
            <a:ext cx="24472" cy="1008871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C690FEC-F5EB-A0B8-CE78-E5D961BD8A6B}"/>
              </a:ext>
            </a:extLst>
          </p:cNvPr>
          <p:cNvCxnSpPr>
            <a:cxnSpLocks/>
          </p:cNvCxnSpPr>
          <p:nvPr/>
        </p:nvCxnSpPr>
        <p:spPr>
          <a:xfrm flipV="1">
            <a:off x="4009623" y="3515476"/>
            <a:ext cx="1409158" cy="1331477"/>
          </a:xfrm>
          <a:prstGeom prst="line">
            <a:avLst/>
          </a:prstGeom>
          <a:ln w="3175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414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A3A7C-3868-8C68-6038-D2ACC0BE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02C360-CF3E-F7B3-2431-E5399BFA9A4C}"/>
              </a:ext>
            </a:extLst>
          </p:cNvPr>
          <p:cNvSpPr txBox="1"/>
          <p:nvPr/>
        </p:nvSpPr>
        <p:spPr>
          <a:xfrm>
            <a:off x="4771623" y="1165538"/>
            <a:ext cx="305873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/>
              <a:t>Dashboard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DC9CC9-F6A8-C5B6-FEB7-6A9C7F7DAB41}"/>
              </a:ext>
            </a:extLst>
          </p:cNvPr>
          <p:cNvSpPr txBox="1"/>
          <p:nvPr/>
        </p:nvSpPr>
        <p:spPr>
          <a:xfrm>
            <a:off x="2050621" y="1814010"/>
            <a:ext cx="9109491" cy="40934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/>
              <a:t>Two Approaches</a:t>
            </a:r>
          </a:p>
          <a:p>
            <a:endParaRPr lang="en-US" sz="2400" dirty="0"/>
          </a:p>
          <a:p>
            <a:pPr marL="457200" indent="-457200">
              <a:buAutoNum type="arabicPeriod"/>
            </a:pPr>
            <a:r>
              <a:rPr lang="en-US" sz="2400"/>
              <a:t>Create customized dashboard "from scratch"</a:t>
            </a:r>
          </a:p>
          <a:p>
            <a:pPr marL="914400" lvl="1" indent="-457200">
              <a:buFont typeface="Courier New"/>
              <a:buChar char="o"/>
            </a:pPr>
            <a:r>
              <a:rPr lang="en-US" sz="2400"/>
              <a:t>Start from blank code repository, use CoPilot to generate PGR-themed dashboard based on input specifications</a:t>
            </a:r>
          </a:p>
          <a:p>
            <a:pPr marL="457200" indent="-457200">
              <a:buAutoNum type="arabicPeriod"/>
            </a:pPr>
            <a:r>
              <a:rPr lang="en-US" sz="2400"/>
              <a:t>Use Node-RED – low-code solution with native support for Arduino/Raspberry Pi inputs</a:t>
            </a:r>
          </a:p>
          <a:p>
            <a:pPr marL="914400" lvl="1" indent="-457200">
              <a:buFont typeface="Courier New"/>
              <a:buChar char="o"/>
            </a:pPr>
            <a:r>
              <a:rPr lang="en-US" sz="2400"/>
              <a:t>Leverage pre-existing dashboard framework and use Node-RED documentation alongside AI to implement each sensor reading and visualization</a:t>
            </a:r>
          </a:p>
          <a:p>
            <a:pPr marL="914400" lvl="1" indent="-457200">
              <a:buFont typeface="Courier New"/>
              <a:buChar char="o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8301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1C21F6-FEC0-3552-7332-060D4C6BB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3F940F-8380-655F-7BC2-847642BA5D1B}"/>
              </a:ext>
            </a:extLst>
          </p:cNvPr>
          <p:cNvSpPr txBox="1"/>
          <p:nvPr/>
        </p:nvSpPr>
        <p:spPr>
          <a:xfrm>
            <a:off x="4349750" y="2600980"/>
            <a:ext cx="5384800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8000" dirty="0"/>
              <a:t>DEMO 2</a:t>
            </a:r>
          </a:p>
        </p:txBody>
      </p:sp>
    </p:spTree>
    <p:extLst>
      <p:ext uri="{BB962C8B-B14F-4D97-AF65-F5344CB8AC3E}">
        <p14:creationId xmlns:p14="http://schemas.microsoft.com/office/powerpoint/2010/main" val="3566343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2A406-535E-159E-85E4-03CC823E4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AD29FA-65CE-716D-7645-E6A6579D9F88}"/>
              </a:ext>
            </a:extLst>
          </p:cNvPr>
          <p:cNvSpPr txBox="1"/>
          <p:nvPr/>
        </p:nvSpPr>
        <p:spPr>
          <a:xfrm>
            <a:off x="3313544" y="956648"/>
            <a:ext cx="5559407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800" dirty="0"/>
              <a:t>Dashboard Concept 1 – Tech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3125FE-4AB4-D400-F336-CD09D0E11411}"/>
              </a:ext>
            </a:extLst>
          </p:cNvPr>
          <p:cNvSpPr txBox="1"/>
          <p:nvPr/>
        </p:nvSpPr>
        <p:spPr>
          <a:xfrm>
            <a:off x="3252537" y="2583949"/>
            <a:ext cx="313151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Flask backend to serve the dashboard</a:t>
            </a:r>
          </a:p>
          <a:p>
            <a:pPr marL="285750" indent="-285750">
              <a:buFont typeface="Arial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A502F5-0595-E603-8734-6100A6571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4599" y="2505513"/>
            <a:ext cx="984044" cy="4887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46AAA0-303E-A4FF-59C6-53E07155C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3811" y="3264240"/>
            <a:ext cx="754413" cy="56419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551025-1923-B4E2-3807-DF48EDA60C6C}"/>
              </a:ext>
            </a:extLst>
          </p:cNvPr>
          <p:cNvSpPr txBox="1"/>
          <p:nvPr/>
        </p:nvSpPr>
        <p:spPr>
          <a:xfrm>
            <a:off x="3252537" y="3448906"/>
            <a:ext cx="555417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OpenCV captures and prepares live camera feed</a:t>
            </a:r>
          </a:p>
          <a:p>
            <a:pPr marL="285750" indent="-285750">
              <a:buFont typeface="Arial"/>
              <a:buChar char="•"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74AD3D-A739-8C8E-082C-C86379EEA4DB}"/>
              </a:ext>
            </a:extLst>
          </p:cNvPr>
          <p:cNvSpPr txBox="1"/>
          <p:nvPr/>
        </p:nvSpPr>
        <p:spPr>
          <a:xfrm>
            <a:off x="3294087" y="4165147"/>
            <a:ext cx="555417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I²C (Inter-Integrated Circuit) — two-wire serial communication protocol used by the Raspberry Pi to communicate with the BME280 environmental sensor.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4C5506E-225C-015D-3227-E003A564AC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4599" y="4898640"/>
            <a:ext cx="1119488" cy="6272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833CAD-4ED9-44A1-0F1B-6EA20930A26B}"/>
              </a:ext>
            </a:extLst>
          </p:cNvPr>
          <p:cNvSpPr txBox="1"/>
          <p:nvPr/>
        </p:nvSpPr>
        <p:spPr>
          <a:xfrm>
            <a:off x="3318781" y="5164087"/>
            <a:ext cx="555417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BLE Scanning with Bleak python library 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1446E34-0222-0733-D12D-E5A3386380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7743" y="5618152"/>
            <a:ext cx="640481" cy="63333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64CA6A1-1E8F-B528-5AF4-4CF61C943114}"/>
              </a:ext>
            </a:extLst>
          </p:cNvPr>
          <p:cNvSpPr txBox="1"/>
          <p:nvPr/>
        </p:nvSpPr>
        <p:spPr>
          <a:xfrm>
            <a:off x="3318781" y="5780929"/>
            <a:ext cx="555417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 err="1"/>
              <a:t>YAMNet</a:t>
            </a:r>
            <a:r>
              <a:rPr lang="en-US" sz="1400" dirty="0"/>
              <a:t> TensorFlow Lite model for audio classification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FFB1A4-BDD6-9960-2A30-7B84220EDC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80704" y="4064481"/>
            <a:ext cx="1171833" cy="7812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17E9ED-19DB-6962-9DBE-AEAFA3BC53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37649" y="1724273"/>
            <a:ext cx="591363" cy="5913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E215100-39C2-6FED-3379-9426CC38CEF5}"/>
              </a:ext>
            </a:extLst>
          </p:cNvPr>
          <p:cNvSpPr txBox="1"/>
          <p:nvPr/>
        </p:nvSpPr>
        <p:spPr>
          <a:xfrm>
            <a:off x="3252537" y="1874470"/>
            <a:ext cx="603318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200" dirty="0"/>
              <a:t>Python Runtime - Camera, BLE scanner, pet detection, audio monitoring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82621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4C166B-6EF5-99C7-6F5B-5CE15ED40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D08EBC-7286-46C1-CDE5-A3598765D077}"/>
              </a:ext>
            </a:extLst>
          </p:cNvPr>
          <p:cNvSpPr txBox="1"/>
          <p:nvPr/>
        </p:nvSpPr>
        <p:spPr>
          <a:xfrm>
            <a:off x="5245100" y="1263650"/>
            <a:ext cx="139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Demo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F8EFE1-1395-1390-468A-000A81ABB4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251" y="2019300"/>
            <a:ext cx="4601721" cy="45289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1CD5D1-CFBA-2B71-B15A-DF34729129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300" y="2019300"/>
            <a:ext cx="4219525" cy="452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5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B19F53-8F52-96F0-0E94-1DA391663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2E6FDF-EF21-1EB9-1C3C-F931C4D31D5C}"/>
              </a:ext>
            </a:extLst>
          </p:cNvPr>
          <p:cNvSpPr txBox="1"/>
          <p:nvPr/>
        </p:nvSpPr>
        <p:spPr>
          <a:xfrm>
            <a:off x="3313544" y="956648"/>
            <a:ext cx="5559407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800" dirty="0"/>
              <a:t>Dashboard Concept 2 – Tech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D90468-3125-CB37-8CCC-0CC31BCC7068}"/>
              </a:ext>
            </a:extLst>
          </p:cNvPr>
          <p:cNvSpPr txBox="1"/>
          <p:nvPr/>
        </p:nvSpPr>
        <p:spPr>
          <a:xfrm>
            <a:off x="3282036" y="1769678"/>
            <a:ext cx="603318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200" dirty="0"/>
              <a:t>Python Runtime - Camera, BLE scanner, pet detection, audio monitoring</a:t>
            </a:r>
            <a:endParaRPr 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331D4-4C21-FF05-EDC0-5C245BD57B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9347" y="3311296"/>
            <a:ext cx="526018" cy="39338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B97E24-3CD4-96F5-A018-20AEDF9B04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0580" y="4431819"/>
            <a:ext cx="740911" cy="4151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1A92C6-DCF5-9971-5591-BF0A6CFA12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041" y="2849689"/>
            <a:ext cx="689195" cy="3166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6466CA-C2E4-C068-C1FD-156BBD735D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9347" y="2286445"/>
            <a:ext cx="477570" cy="4566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2027CE0-A659-075F-A085-EE410B4085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9273" y="3849677"/>
            <a:ext cx="477570" cy="49007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CBB34C1-D90E-E00B-AC1C-9533489CD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15123" y="1633079"/>
            <a:ext cx="589033" cy="589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D80E491-935B-BDD8-89FC-BFC344F5AADC}"/>
              </a:ext>
            </a:extLst>
          </p:cNvPr>
          <p:cNvSpPr txBox="1"/>
          <p:nvPr/>
        </p:nvSpPr>
        <p:spPr>
          <a:xfrm>
            <a:off x="3313544" y="3395683"/>
            <a:ext cx="414111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200" dirty="0"/>
              <a:t>Computer Vision - Camera-frame processing and inference</a:t>
            </a:r>
            <a:endParaRPr 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9BCB65-635E-DF88-CDAA-D8DDCB82074C}"/>
              </a:ext>
            </a:extLst>
          </p:cNvPr>
          <p:cNvSpPr txBox="1"/>
          <p:nvPr/>
        </p:nvSpPr>
        <p:spPr>
          <a:xfrm>
            <a:off x="3313544" y="3932641"/>
            <a:ext cx="254605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200" dirty="0"/>
              <a:t>AI Model - Dog/cat object detection</a:t>
            </a:r>
            <a:endParaRPr 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2D3974-03C9-5367-F8FA-FC511DD030C0}"/>
              </a:ext>
            </a:extLst>
          </p:cNvPr>
          <p:cNvSpPr txBox="1"/>
          <p:nvPr/>
        </p:nvSpPr>
        <p:spPr>
          <a:xfrm>
            <a:off x="3313544" y="2281404"/>
            <a:ext cx="6001678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/>
              <a:t>Orchestrates sensor data, Python services, database operations, and the real-time Pet Guardian dashboard through visual event-driven flows</a:t>
            </a:r>
            <a:endParaRPr lang="en-US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554BDD-FC75-F5B5-DEC2-78D304786743}"/>
              </a:ext>
            </a:extLst>
          </p:cNvPr>
          <p:cNvSpPr txBox="1"/>
          <p:nvPr/>
        </p:nvSpPr>
        <p:spPr>
          <a:xfrm>
            <a:off x="3313544" y="2889300"/>
            <a:ext cx="414111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/>
              <a:t>Current pet state and historical data</a:t>
            </a:r>
            <a:endParaRPr lang="en-US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DA1B45-A38C-22B2-6825-7A48D21A6923}"/>
              </a:ext>
            </a:extLst>
          </p:cNvPr>
          <p:cNvSpPr txBox="1"/>
          <p:nvPr/>
        </p:nvSpPr>
        <p:spPr>
          <a:xfrm>
            <a:off x="3282036" y="4469599"/>
            <a:ext cx="297271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/>
              <a:t>Python BLE scanning of the pet beacon</a:t>
            </a:r>
            <a:endParaRPr lang="en-US" sz="16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245E4E-7E14-B2E1-CCD9-C43C0ED120AE}"/>
              </a:ext>
            </a:extLst>
          </p:cNvPr>
          <p:cNvSpPr txBox="1"/>
          <p:nvPr/>
        </p:nvSpPr>
        <p:spPr>
          <a:xfrm>
            <a:off x="3313544" y="5103803"/>
            <a:ext cx="6097156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/>
              <a:t>I²C (Inter-Integrated Circuit) — two-wire serial communication protocol used by the Raspberry Pi to communicate with the BME280 environmental sensor.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808970C-2C02-DE98-6431-514EE60BB4D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43895" y="5015303"/>
            <a:ext cx="838141" cy="55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781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0290E9-E20E-0441-9FDE-5FDB97100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6A019F-F8EA-F739-2C8F-A5123F1C7522}"/>
              </a:ext>
            </a:extLst>
          </p:cNvPr>
          <p:cNvSpPr txBox="1"/>
          <p:nvPr/>
        </p:nvSpPr>
        <p:spPr>
          <a:xfrm>
            <a:off x="4432300" y="1320800"/>
            <a:ext cx="2386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Future Enhancements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221476-8405-1464-3ACE-27BABEF51708}"/>
              </a:ext>
            </a:extLst>
          </p:cNvPr>
          <p:cNvSpPr txBox="1"/>
          <p:nvPr/>
        </p:nvSpPr>
        <p:spPr>
          <a:xfrm>
            <a:off x="3200400" y="1816100"/>
            <a:ext cx="551815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Deeper integration with Progressive Pet Insurance Products – pet not feeling well, click here for PGR approved vets, etc.  Adding coverage, etc.  Maybe this sends data back for pet health tracking???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Software only or Hardware only???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Scale for food/water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BLE receivers in each room / IR sensor (to help with location)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Push notifications to smartphone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Video/Audio classification enhancements using finely tuned AI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Adding ESP32 or Pico boards for remote sensors (food bowl,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3D print Progressive branded case for Pet Guardian project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604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C758D-94EC-EE9A-4DB0-C9236ACFC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89B152-9AAC-9C61-2C01-1F86B5D258AD}"/>
              </a:ext>
            </a:extLst>
          </p:cNvPr>
          <p:cNvSpPr txBox="1"/>
          <p:nvPr/>
        </p:nvSpPr>
        <p:spPr>
          <a:xfrm>
            <a:off x="4403992" y="1193131"/>
            <a:ext cx="3383106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800" dirty="0"/>
              <a:t>Learning/Challenges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8F4CD-C6C1-A4EE-3AE0-1A0AE1D71FEB}"/>
              </a:ext>
            </a:extLst>
          </p:cNvPr>
          <p:cNvSpPr txBox="1"/>
          <p:nvPr/>
        </p:nvSpPr>
        <p:spPr>
          <a:xfrm>
            <a:off x="2597150" y="1949450"/>
            <a:ext cx="661035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Challenges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AI can accelerate development, but faster delivery doesn’t always translate to deeper understanding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Hardware Compatibility, Purchasing hardware, understanding how it will connect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Soldering, </a:t>
            </a:r>
            <a:r>
              <a:rPr lang="en-US" sz="1400" dirty="0" err="1"/>
              <a:t>etc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Thinking of an idea that leverages a IOT device over traditional for Insurance</a:t>
            </a:r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Node-Red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Wiring Raspberry Pi, GPIO Pins, I2C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Curiosity for additional uses of </a:t>
            </a:r>
            <a:r>
              <a:rPr lang="en-US" sz="1400" dirty="0" err="1"/>
              <a:t>Rasperry</a:t>
            </a:r>
            <a:r>
              <a:rPr lang="en-US" sz="1400" dirty="0"/>
              <a:t> Pi and IOTs to help Progressive</a:t>
            </a:r>
          </a:p>
        </p:txBody>
      </p:sp>
    </p:spTree>
    <p:extLst>
      <p:ext uri="{BB962C8B-B14F-4D97-AF65-F5344CB8AC3E}">
        <p14:creationId xmlns:p14="http://schemas.microsoft.com/office/powerpoint/2010/main" val="2591129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F4E0F-6BA1-3BD3-76EF-A760517A9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7B8588-56B1-4AEC-B36A-9820ABAE0EFB}"/>
              </a:ext>
            </a:extLst>
          </p:cNvPr>
          <p:cNvSpPr txBox="1"/>
          <p:nvPr/>
        </p:nvSpPr>
        <p:spPr>
          <a:xfrm>
            <a:off x="5041900" y="2689880"/>
            <a:ext cx="5384800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8000" dirty="0"/>
              <a:t>CIAO</a:t>
            </a:r>
            <a:r>
              <a:rPr lang="en-US" sz="28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18799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563</Words>
  <Application>Microsoft Office PowerPoint</Application>
  <PresentationFormat>Widescreen</PresentationFormat>
  <Paragraphs>84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Lall</dc:creator>
  <cp:lastModifiedBy>Andrew Lall</cp:lastModifiedBy>
  <cp:revision>299</cp:revision>
  <dcterms:created xsi:type="dcterms:W3CDTF">2026-10-12T13:22:38Z</dcterms:created>
  <dcterms:modified xsi:type="dcterms:W3CDTF">2026-10-15T14:34:33Z</dcterms:modified>
</cp:coreProperties>
</file>